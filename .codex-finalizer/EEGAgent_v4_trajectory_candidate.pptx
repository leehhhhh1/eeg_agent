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734e8f4d8c4974" /><Relationship Type="http://schemas.openxmlformats.org/officeDocument/2006/relationships/extended-properties" Target="/docProps/app.xml" Id="R13e96ec850824506" /><Relationship Type="http://schemas.openxmlformats.org/officeDocument/2006/relationships/officeDocument" Target="/ppt/presentation.xml" Id="R2d0040ef9e754c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22586989ed43ee"/>
  </p:sldMasterIdLst>
  <p:notesMasterIdLst>
    <p:notesMasterId xmlns:r="http://schemas.openxmlformats.org/officeDocument/2006/relationships" r:id="R2013ee6b9e094297"/>
  </p:notesMasterIdLst>
  <p:sldIdLst>
    <p:sldId xmlns:r="http://schemas.openxmlformats.org/officeDocument/2006/relationships" id="256" r:id="Rfe38b8edfe7b402a"/>
    <p:sldId xmlns:r="http://schemas.openxmlformats.org/officeDocument/2006/relationships" id="257" r:id="R486f05129eba4add"/>
    <p:sldId xmlns:r="http://schemas.openxmlformats.org/officeDocument/2006/relationships" id="258" r:id="R1e52e661b8074914"/>
    <p:sldId xmlns:r="http://schemas.openxmlformats.org/officeDocument/2006/relationships" id="259" r:id="R222ec2ff453e4018"/>
    <p:sldId xmlns:r="http://schemas.openxmlformats.org/officeDocument/2006/relationships" id="260" r:id="R7f5c625e6dd444de"/>
    <p:sldId xmlns:r="http://schemas.openxmlformats.org/officeDocument/2006/relationships" id="261" r:id="R87439fc2037a487d"/>
    <p:sldId xmlns:r="http://schemas.openxmlformats.org/officeDocument/2006/relationships" id="262" r:id="R267d3002f90a4e2c"/>
    <p:sldId xmlns:r="http://schemas.openxmlformats.org/officeDocument/2006/relationships" id="263" r:id="Rad66f45f08704448"/>
    <p:sldId xmlns:r="http://schemas.openxmlformats.org/officeDocument/2006/relationships" id="264" r:id="R223d856385e54c4d"/>
    <p:sldId xmlns:r="http://schemas.openxmlformats.org/officeDocument/2006/relationships" id="265" r:id="R0de1e7a67010489f"/>
    <p:sldId xmlns:r="http://schemas.openxmlformats.org/officeDocument/2006/relationships" id="266" r:id="R5da6b56c22d144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8fab7f7d8e43fe" /><Relationship Type="http://schemas.openxmlformats.org/officeDocument/2006/relationships/slideMaster" Target="/ppt/slideMasters/slideMaster1.xml" Id="R6a22586989ed43ee" /><Relationship Type="http://schemas.openxmlformats.org/officeDocument/2006/relationships/notesMaster" Target="/ppt/notesMasters/notesMaster1.xml" Id="R2013ee6b9e094297" /><Relationship Type="http://schemas.openxmlformats.org/officeDocument/2006/relationships/presProps" Target="/ppt/presProps.xml" Id="Rde2558947aef4865" /><Relationship Type="http://schemas.openxmlformats.org/officeDocument/2006/relationships/viewProps" Target="/ppt/viewProps.xml" Id="Rc9963eb65a814ae0" /><Relationship Type="http://schemas.openxmlformats.org/officeDocument/2006/relationships/tableStyles" Target="/ppt/tableStyles.xml" Id="R9acb9b6218d94d77" /><Relationship Type="http://schemas.openxmlformats.org/officeDocument/2006/relationships/slide" Target="/ppt/slides/slide1.xml" Id="Rfe38b8edfe7b402a" /><Relationship Type="http://schemas.openxmlformats.org/officeDocument/2006/relationships/slide" Target="/ppt/slides/slide2.xml" Id="R486f05129eba4add" /><Relationship Type="http://schemas.openxmlformats.org/officeDocument/2006/relationships/slide" Target="/ppt/slides/slide3.xml" Id="R1e52e661b8074914" /><Relationship Type="http://schemas.openxmlformats.org/officeDocument/2006/relationships/slide" Target="/ppt/slides/slide4.xml" Id="R222ec2ff453e4018" /><Relationship Type="http://schemas.openxmlformats.org/officeDocument/2006/relationships/slide" Target="/ppt/slides/slide5.xml" Id="R7f5c625e6dd444de" /><Relationship Type="http://schemas.openxmlformats.org/officeDocument/2006/relationships/slide" Target="/ppt/slides/slide6.xml" Id="R87439fc2037a487d" /><Relationship Type="http://schemas.openxmlformats.org/officeDocument/2006/relationships/slide" Target="/ppt/slides/slide7.xml" Id="R267d3002f90a4e2c" /><Relationship Type="http://schemas.openxmlformats.org/officeDocument/2006/relationships/slide" Target="/ppt/slides/slide8.xml" Id="Rad66f45f08704448" /><Relationship Type="http://schemas.openxmlformats.org/officeDocument/2006/relationships/slide" Target="/ppt/slides/slide9.xml" Id="R223d856385e54c4d" /><Relationship Type="http://schemas.openxmlformats.org/officeDocument/2006/relationships/slide" Target="/ppt/slides/slide10.xml" Id="R0de1e7a67010489f" /><Relationship Type="http://schemas.openxmlformats.org/officeDocument/2006/relationships/slide" Target="/ppt/slides/slide11.xml" Id="R5da6b56c22d144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1bf6d8208b49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55abb6619848fa" /><Relationship Type="http://schemas.openxmlformats.org/officeDocument/2006/relationships/notesMaster" Target="/ppt/notesMasters/notesMaster1.xml" Id="R9798600ea84b49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8cf34a70324873" /><Relationship Type="http://schemas.openxmlformats.org/officeDocument/2006/relationships/notesMaster" Target="/ppt/notesMasters/notesMaster1.xml" Id="R22b0a0551d9e48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5a9b5c904745eb" /><Relationship Type="http://schemas.openxmlformats.org/officeDocument/2006/relationships/notesMaster" Target="/ppt/notesMasters/notesMaster1.xml" Id="R6175d64237754d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5c288286be4a3b" /><Relationship Type="http://schemas.openxmlformats.org/officeDocument/2006/relationships/notesMaster" Target="/ppt/notesMasters/notesMaster1.xml" Id="R209b001c18bd4a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41b9318a904e5c" /><Relationship Type="http://schemas.openxmlformats.org/officeDocument/2006/relationships/notesMaster" Target="/ppt/notesMasters/notesMaster1.xml" Id="Re6d714ffc9c442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e1324031934bef" /><Relationship Type="http://schemas.openxmlformats.org/officeDocument/2006/relationships/notesMaster" Target="/ppt/notesMasters/notesMaster1.xml" Id="R63ef39b1b14442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c6e8c341a54d69" /><Relationship Type="http://schemas.openxmlformats.org/officeDocument/2006/relationships/notesMaster" Target="/ppt/notesMasters/notesMaster1.xml" Id="R180d6058a7ec45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c9b90ef1bd4d73" /><Relationship Type="http://schemas.openxmlformats.org/officeDocument/2006/relationships/notesMaster" Target="/ppt/notesMasters/notesMaster1.xml" Id="Rb9705c8494984b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d0239c680040a9" /><Relationship Type="http://schemas.openxmlformats.org/officeDocument/2006/relationships/notesMaster" Target="/ppt/notesMasters/notesMaster1.xml" Id="R93f9cecfb58d44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8c4a58f4fc4b68" /><Relationship Type="http://schemas.openxmlformats.org/officeDocument/2006/relationships/notesMaster" Target="/ppt/notesMasters/notesMaster1.xml" Id="Rc7500e7707a642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52a0c4c2d845a7" /><Relationship Type="http://schemas.openxmlformats.org/officeDocument/2006/relationships/notesMaster" Target="/ppt/notesMasters/notesMaster1.xml" Id="R093da7b1f82748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建议开场：EEGAgent 不是把 LLM 直接接到 EEG 数据，而是用运行时把规划、工具、记忆和知识检索拆成可控模块。</a:t>
            </a:r>
          </a:p>
          <a:p xmlns:a="http://schemas.openxmlformats.org/drawingml/2006/main">
            <a:r>
              <a:t>来源：README.md；agent_runtime；RAG；mcp_server。</a:t>
            </a:r>
          </a:p>
          <a:p xmlns:a="http://schemas.openxmlformats.org/drawingml/2006/main">
            <a:r>
              <a:t>封面视觉为项目已有生成资源，仅用于技术主题表达。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面试讲法：用分层先建立全局认知。规划、记忆、调用协议、领域能力和知识库各自可替换。</a:t>
            </a:r>
          </a:p>
          <a:p xmlns:a="http://schemas.openxmlformats.org/drawingml/2006/main">
            <a:r>
              <a:t>当前桌面端通过 stdio 启动本地 MCP 服务，Agent 通过 OpenAI 兼容接口调用 DeepSeek。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Parent 用于保存章节级上下文和来源元数据，Child 用于精细召回。</a:t>
            </a:r>
          </a:p>
          <a:p xmlns:a="http://schemas.openxmlformats.org/drawingml/2006/main">
            <a:r>
              <a:t>表格和列表按行拆分，普通段落按句子边界拆分；稳定 ID 使用 SHA-1 摘要。</a:t>
            </a:r>
          </a:p>
          <a:p xmlns:a="http://schemas.openxmlformats.org/drawingml/2006/main">
            <a:r>
              <a:t>FAISS 使用 IndexFlatIP，Sparse 使用 token_id 到文档权重的倒排表。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模糊问题先用 Dense Top-1 做 FAISS probe，默认阈值 0.35。</a:t>
            </a:r>
          </a:p>
          <a:p xmlns:a="http://schemas.openxmlformats.org/drawingml/2006/main">
            <a:r>
              <a:t>三路融合使用 rank 而不是直接混合原始分数，降低不同打分尺度造成的偏差。</a:t>
            </a:r>
          </a:p>
          <a:p xmlns:a="http://schemas.openxmlformats.org/drawingml/2006/main">
            <a:r>
              <a:t>reranker 输出 sigmoid 相关度，低于 0.5 的候选会被过滤，因此最终可能返回 0 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关键词路由适合高精度意图，命中后不再走语义选择。</a:t>
            </a:r>
          </a:p>
          <a:p xmlns:a="http://schemas.openxmlformats.org/drawingml/2006/main">
            <a:r>
              <a:t>语义路由使用本地 BGE-M3，默认专用阈值 0.65，候选分差 0.05，general_eeg 下限 0.45。</a:t>
            </a:r>
          </a:p>
          <a:p xmlns:a="http://schemas.openxmlformats.org/drawingml/2006/main">
            <a:r>
              <a:t>每个 Skill 的描述与多条 routing_examples 都参与编码，每个 Skill 取最相似两条的均值。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这是一个工程化 ReAct 循环：模型提出 action，MCP 返回 observation，模型继续决策。</a:t>
            </a:r>
          </a:p>
          <a:p xmlns:a="http://schemas.openxmlformats.org/drawingml/2006/main">
            <a:r>
              <a:t>运行时收集流式 reasoning_content 和 tool_call 增量，确保 DeepSeek 思考模式在后续工具轮次保持上下文连续。</a:t>
            </a:r>
          </a:p>
          <a:p xmlns:a="http://schemas.openxmlformats.org/drawingml/2006/main">
            <a:r>
              <a:t>MAX_TOOL_ROUNDS 为 8。错误会转为模型可见的结构化结果，不直接让整轮崩溃。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会话摘要不是让模型自由总结工具原始输出。代码只抽取白名单字段，避免把大 payload 长期保存。</a:t>
            </a:r>
          </a:p>
          <a:p xmlns:a="http://schemas.openxmlformats.org/drawingml/2006/main">
            <a:r>
              <a:t>历史压缩以完整 user turn 为单位，tool_calls 与对应 tool 消息保持原子性。</a:t>
            </a:r>
          </a:p>
          <a:p xmlns:a="http://schemas.openxmlformats.org/drawingml/2006/main">
            <a:r>
              <a:t>RAG 文本只临时注入当前 user message，模型返回后会替换回原问题，避免知识片段污染长期记忆。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双重授权包括 schema 暴露和执行前 allowlist 校验。当前实现为了保持提示词前缀稳定，模型在会话内看见固定工具 schema 联集。</a:t>
            </a:r>
          </a:p>
          <a:p xmlns:a="http://schemas.openxmlformats.org/drawingml/2006/main">
            <a:r>
              <a:t>真正调用时仍按当前 Skill 检查权限，所以 schema 稳定不会扩大执行能力。</a:t>
            </a:r>
          </a:p>
          <a:p xmlns:a="http://schemas.openxmlformats.org/drawingml/2006/main">
            <a:r>
              <a:t>MCPClientBridge 在后台线程维护异步 stdio 会话，对桌面端提供同步 list_tools 与 call_tool。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轨迹事件由 Agent Runtime 发出，通过稳定事件 ID 增量更新状态。</a:t>
            </a:r>
          </a:p>
          <a:p xmlns:a="http://schemas.openxmlformats.org/drawingml/2006/main">
            <a:r>
              <a:t>事件类型覆盖 user/message、routing/decision、rag/retrieval、model/request、tool/call 和 turn/end。</a:t>
            </a:r>
          </a:p>
          <a:p xmlns:a="http://schemas.openxmlformats.org/drawingml/2006/main">
            <a:r>
              <a:t>桌面端按轮次展示时间轴、可搜索事件表和输入输出详情，并聚合 LLM 耗时、工具耗时、平均 TTFT、生成速度、缓存命中率、token 与上下文占用。</a:t>
            </a:r>
          </a:p>
          <a:p xmlns:a="http://schemas.openxmlformats.org/drawingml/2006/main">
            <a:r>
              <a:t>轨迹详情通过 _trace_text 做长度限制，不写入模型消息历史。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这个例子适合面试时按 Trace 顺序讲，能够把规划、RAG 策略、MCP、记忆和安全输出串起来。</a:t>
            </a:r>
          </a:p>
          <a:p xmlns:a="http://schemas.openxmlformats.org/drawingml/2006/main">
            <a:r>
              <a:t>detection Skill 规定窗口不超过 600 秒；本例使用 0 至 60 秒。</a:t>
            </a:r>
          </a:p>
          <a:p xmlns:a="http://schemas.openxmlformats.org/drawingml/2006/main">
            <a:r>
              <a:t>路由、RAG、模型请求、工具调用和 turn end 都会发出可视化 trace 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最后一页把技术亮点与不足同时讲清楚。右侧均为建议，不代表当前已经实现。</a:t>
            </a:r>
          </a:p>
          <a:p xmlns:a="http://schemas.openxmlformats.org/drawingml/2006/main">
            <a:r>
              <a:t>可根据应聘岗位调整重点：Agent 岗强调规划和记忆，平台岗强调 MCP 与可观测性，算法岗强调 RAG 与 EEG 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8677736db340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ceb89750334ed7" /><Relationship Type="http://schemas.openxmlformats.org/officeDocument/2006/relationships/slideLayout" Target="/ppt/slideLayouts/slideLayout1.xml" Id="R5c5f9870d366406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5f9870d36640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2095b7c6c4e47" /><Relationship Type="http://schemas.openxmlformats.org/officeDocument/2006/relationships/image" Target="/ppt/media/image.png" Id="Rcc3abdf12de44f64" /><Relationship Type="http://schemas.openxmlformats.org/officeDocument/2006/relationships/notesSlide" Target="/ppt/notesSlides/notesSlide1.xml" Id="R98073e410e5a4d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9e9c1cd034921" /><Relationship Type="http://schemas.openxmlformats.org/officeDocument/2006/relationships/notesSlide" Target="/ppt/notesSlides/notesSlide2.xml" Id="R1df3b7aad80b42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0adcba90548ba" /><Relationship Type="http://schemas.openxmlformats.org/officeDocument/2006/relationships/notesSlide" Target="/ppt/notesSlides/notesSlide3.xml" Id="R7e16f9ed1e0d4a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324bea7fd45c2" /><Relationship Type="http://schemas.openxmlformats.org/officeDocument/2006/relationships/notesSlide" Target="/ppt/notesSlides/notesSlide4.xml" Id="Rf8bb07c005fe4b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3609af2254299" /><Relationship Type="http://schemas.openxmlformats.org/officeDocument/2006/relationships/notesSlide" Target="/ppt/notesSlides/notesSlide5.xml" Id="R769aba4bec5940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caf7f9c964721" /><Relationship Type="http://schemas.openxmlformats.org/officeDocument/2006/relationships/notesSlide" Target="/ppt/notesSlides/notesSlide6.xml" Id="R62575fbfe2e94e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271761e3043af" /><Relationship Type="http://schemas.openxmlformats.org/officeDocument/2006/relationships/image" Target="/ppt/media/image.jpeg" Id="R5728c2c80acf48f2" /><Relationship Type="http://schemas.openxmlformats.org/officeDocument/2006/relationships/notesSlide" Target="/ppt/notesSlides/notesSlide7.xml" Id="Re5db6a3fa97542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f7b4d94294fb3" /><Relationship Type="http://schemas.openxmlformats.org/officeDocument/2006/relationships/notesSlide" Target="/ppt/notesSlides/notesSlide8.xml" Id="R61cd5ace426649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bde0d3f7b430b" /><Relationship Type="http://schemas.openxmlformats.org/officeDocument/2006/relationships/notesSlide" Target="/ppt/notesSlides/notesSlide9.xml" Id="R9a0d27dfbda14a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38fca14584ebd" /><Relationship Type="http://schemas.openxmlformats.org/officeDocument/2006/relationships/notesSlide" Target="/ppt/notesSlides/notesSlide10.xml" Id="Ra55412f4937649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2a75cf4e04a59" /><Relationship Type="http://schemas.openxmlformats.org/officeDocument/2006/relationships/notesSlide" Target="/ppt/notesSlides/notesSlide11.xml" Id="Rff1e408a9a2842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abdf12de44f6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C04D66A-B963-456E-A87A-2675BDDD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11E"/>
              </a:gs>
              <a:gs pos="72000">
                <a:srgbClr val="06111E">
                  <a:alpha val="97000"/>
                </a:srgbClr>
              </a:gs>
              <a:gs pos="100000">
                <a:srgbClr val="06111E">
                  <a:alpha val="25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31147755-87FF-42E6-8044-E1CCEE6B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2476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14000"/>
            </a:srgbClr>
          </a:solidFill>
          <a:ln xmlns:a="http://schemas.openxmlformats.org/drawingml/2006/main" w="9525">
            <a:solidFill>
              <a:srgbClr val="22D3EE">
                <a:alpha val="5500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INTERVIEW TECHNICAL DECK</a:t>
            </a:r>
            <a:endParaRPr sz="1125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747653B-9B70-4807-B153-7A23EFAD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EEGAgent</a:t>
            </a:r>
            <a:endParaRPr sz="46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D22063F-BBB3-4CB8-B565-69314122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智能体技术架构与工程实现</a:t>
            </a:r>
            <a:endParaRPr sz="2325" b="1">
              <a:solidFill>
                <a:srgbClr val="67E8F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69449A8-3E0A-497A-B7F9-99074746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542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规划机制、记忆模块</a:t>
            </a:r>
            <a:endParaRPr sz="15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MCP 工具调用、RAG 建库与检索</a:t>
            </a:r>
            <a:endParaRPr sz="15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6876372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29452FE-271E-44FD-9C74-0A003353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系统总览</a:t>
            </a:r>
            <a:endParaRPr sz="10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49BD802-88E2-4C86-9A88-4D3C88F0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五层技术架构</a:t>
            </a:r>
            <a:endParaRPr sz="31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E636E9A-1F9A-4374-A18A-38F41992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EB69191-A869-49B4-8657-E60273D1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核心目标是让 LLM 负责决策，让确定性代码负责边界、执行和状态管理。</a:t>
            </a:r>
            <a:endParaRPr sz="150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70CDAEE6-AD00-4688-9EFE-1DBD4E3F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C2135"/>
          </a:solidFill>
          <a:ln xmlns:a="http://schemas.openxmlformats.org/drawingml/2006/main" w="9525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F6BC6DD-7715-4E93-BE9A-F124218D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交互层</a:t>
            </a:r>
            <a:endParaRPr sz="1425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BA1789A-6556-4EA7-8D84-978C0F98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193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PySide6 桌面端</a:t>
            </a:r>
            <a:endParaRPr sz="1575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9451A72-533B-4CB3-922E-F338E73D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193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EDF 选择、对话流、执行轨迹、取消与导出</a:t>
            </a:r>
            <a:endParaRPr sz="135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A4EA39AA-20B2-4399-B1AB-0FA47C66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A1C2E"/>
          </a:solidFill>
          <a:ln xmlns:a="http://schemas.openxmlformats.org/drawingml/2006/main" w="9525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0C9946E-F60C-4311-9036-56BFE1A5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Agent 运行时</a:t>
            </a:r>
            <a:endParaRPr sz="1425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19446EE-0655-4C6B-A784-3CB9D15F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003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Planner + Memory + ReAct Loop</a:t>
            </a:r>
            <a:endParaRPr sz="1575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03EA0CD-7189-4EF6-9710-2DD7B100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003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路由 Skill、管理上下文、驱动多轮工具调用</a:t>
            </a:r>
            <a:endParaRPr sz="135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02811CB3-C044-4417-A321-EADB4021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C2135"/>
          </a:solidFill>
          <a:ln xmlns:a="http://schemas.openxmlformats.org/drawingml/2006/main" w="9525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957E08E-0092-46BF-A85C-E2BE386E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协议层</a:t>
            </a:r>
            <a:endParaRPr sz="1425" b="1">
              <a:solidFill>
                <a:srgbClr val="F59E0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67D6217-3240-4520-8B7D-6AC51D09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814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MCP over stdio</a:t>
            </a:r>
            <a:endParaRPr sz="1575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CFA9007-C725-42BA-8531-2311DC54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814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持久连接、工具发现、结构化调用与错误归一化</a:t>
            </a:r>
            <a:endParaRPr sz="135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9BA139A5-7499-44C9-8175-D33E4649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A1C2E"/>
          </a:solidFill>
          <a:ln xmlns:a="http://schemas.openxmlformats.org/drawingml/2006/main" w="9525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7C8C454-CAEF-42E9-B2A2-7FCD118D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能力层</a:t>
            </a:r>
            <a:endParaRPr sz="1425" b="1">
              <a:solidFill>
                <a:srgbClr val="34D39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6F66D15-FEE0-4789-8F90-E25BD911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624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EEG Tools + Session</a:t>
            </a:r>
            <a:endParaRPr sz="1575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53E3D9E-AD4B-4496-AC84-75777D8C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624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基础信息、片段探索、事件检测、报告生成</a:t>
            </a:r>
            <a:endParaRPr sz="135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CD295162-3278-442F-B7FB-83803979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C2135"/>
          </a:solidFill>
          <a:ln xmlns:a="http://schemas.openxmlformats.org/drawingml/2006/main" w="9525">
            <a:solidFill>
              <a:srgbClr val="67E8F9">
                <a:alpha val="70000"/>
              </a:srgbClr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848D452-90C4-4E5B-A1AF-E84970B4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435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知识层</a:t>
            </a:r>
            <a:endParaRPr sz="1425" b="1">
              <a:solidFill>
                <a:srgbClr val="67E8F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5C476E1-AADF-44AA-9573-7DD9AF05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435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Local RAG</a:t>
            </a:r>
            <a:endParaRPr sz="1575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920EAC2-C683-42CA-A2D6-A6DE3576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3435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Docling 建库、BGE-M3 混合召回、重排与</a:t>
            </a: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临时</a:t>
            </a: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注入</a:t>
            </a:r>
            <a:endParaRPr sz="135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3DE8B96-98AF-45EB-9C0F-5D46EA61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1</a:t>
            </a:r>
            <a:endParaRPr sz="9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403778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A5E40445-E81A-4F23-95D0-34451D95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 RAG 建库</a:t>
            </a:r>
            <a:endParaRPr sz="10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BD5F9C1-DB2E-4E4A-957C-3C211C6B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结构感知的父子分块与双索引</a:t>
            </a:r>
            <a:endParaRPr sz="31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622300D-0B9B-4EF2-8E68-D718E322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8ED5AA2-7575-463D-AC3C-98472E40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建库优先保留标题层级、表格和页码，再为召回与上下文扩展分别设计粒度。</a:t>
            </a:r>
            <a:endParaRPr sz="150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6C0B7025-9E56-4A08-A61E-645B0CE0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3467D80-1076-45E8-961A-75E73ACF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知识文件</a:t>
            </a:r>
            <a:endParaRPr sz="13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F984871-20E9-4EDA-91D3-86610C79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PDF、DOCX、MD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TXT、HTML、XHTML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222604A4-0FE3-45F4-A8BA-AEFBAE4D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A52B46-0485-44A5-A417-AD206DB6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Docling 解析</a:t>
            </a:r>
            <a:endParaRPr sz="1350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CAB181B-3AA1-40A5-A749-693C363E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OCR、表格结构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标题层级、页码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C2385B99-B44A-436C-A0DE-C8C773A9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DD90BB7-8046-4D39-BEAE-998B699F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结构块</a:t>
            </a:r>
            <a:endParaRPr sz="1350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7F1BE97-AE6D-47BE-8F7E-2C0FD78E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heading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paragraph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list、table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A16480ED-75BD-43BC-AB39-003D9268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5059038-8789-4B17-A363-F0ED572A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父子分块</a:t>
            </a:r>
            <a:endParaRPr sz="1350" b="1">
              <a:solidFill>
                <a:srgbClr val="F59E0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29AEE51-C59A-48C5-806C-FA8DE057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Parent 保持章节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Child 面向召回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A1847FD6-B367-4028-98CD-608C9D87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67E8F9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224119D-97C5-4210-A683-354F5B04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BGE-M3 编码</a:t>
            </a:r>
            <a:endParaRPr sz="1350" b="1">
              <a:solidFill>
                <a:srgbClr val="67E8F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9FBA47A-F9BF-4F58-ABE6-B920F65D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Dense 向量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Sparse token 权重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25A3A274-9D68-411A-B246-38590224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34D399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7C102EC-5C48-4BCD-B593-0E00E0C9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索引落盘</a:t>
            </a:r>
            <a:endParaRPr sz="1350" b="1">
              <a:solidFill>
                <a:srgbClr val="34D39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FCE7E2D-BB83-45D4-B9B2-658AD6E6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FAISS Dense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Sparse 倒排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Parent / Child 元数据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87" name="直接箭头连接符 59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07645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88" name="直接箭头连接符 60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4810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89" name="直接箭头连接符 61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61975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90" name="直接箭头连接符 62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39140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91" name="直接箭头连接符 63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16305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E50FD3AF-B494-48C5-9726-18DC5A9A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10896600" cy="13335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E31"/>
          </a:solidFill>
          <a:ln xmlns:a="http://schemas.openxmlformats.org/drawingml/2006/main" w="9525">
            <a:solidFill>
              <a:srgbClr val="29465F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867BA8B-2A76-459D-88A3-8F3F7DE3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分块参数</a:t>
            </a:r>
            <a:endParaRPr sz="1650" b="1">
              <a:solidFill>
                <a:srgbClr val="F59E0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433D9B8-0124-4C3E-B97C-17842F8C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720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Parent</a:t>
            </a:r>
            <a:endParaRPr sz="13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F33C51CE-32F2-4689-B8A0-914C306C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72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目标 900，最大 1400 tokens</a:t>
            </a:r>
            <a:endParaRPr sz="135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E3E8BE05-4A2B-4A8E-BB38-36037211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387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Child</a:t>
            </a:r>
            <a:endParaRPr sz="13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8ADF614-5286-4E36-9DCA-D86FD5CE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387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目标 280，最大 400，重叠 50 tokens</a:t>
            </a:r>
            <a:endParaRPr sz="135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29650B8A-010F-44B6-9E5A-DAE3D674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增量重建</a:t>
            </a:r>
            <a:endParaRPr sz="1350" b="1">
              <a:solidFill>
                <a:srgbClr val="34D39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37E14C1B-A6A0-47F0-9901-0A303476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14900"/>
            <a:ext cx="3667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registry 比较文件 mtime、size、解析与分块配置。版本变化自动全量重建。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E6AD74F3-224E-4BD9-8C1D-AEEA2BF4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2</a:t>
            </a:r>
            <a:endParaRPr sz="9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1371885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762AE8E-7333-4131-A444-C542FDB7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RAG 检索</a:t>
            </a:r>
            <a:endParaRPr sz="10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CD1362A-E539-412D-BD45-E18D1E16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策略路由、三路召回与重排</a:t>
            </a:r>
            <a:endParaRPr sz="31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D36B1E-7CC6-4003-BFA4-87D19BFF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F3FFFB3-C9D8-462A-8181-76752A87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检索结果最多返回 3 个父块，并在当前用户消息中临时注入。</a:t>
            </a:r>
            <a:endParaRPr sz="150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162919E8-8384-43D4-87BE-E2A2BF4B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38350"/>
            <a:ext cx="10572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D1BD333-1595-4379-BE66-21DBDDFD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133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检索策略</a:t>
            </a:r>
            <a:endParaRPr sz="13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13CB4FF-AFA9-4E79-A236-76C55779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33600"/>
            <a:ext cx="871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知识问题直接检索。记录特异性工具请求跳过。模糊问题先做 FAISS 探测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16E72549-2C4B-41DA-A7CD-D27C73FA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95575"/>
            <a:ext cx="9429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D2337"/>
          </a:solidFill>
          <a:ln xmlns:a="http://schemas.openxmlformats.org/drawingml/2006/main" w="9525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EE9F46F-F102-4537-B09D-3664E76C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7908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双路召回</a:t>
            </a:r>
            <a:endParaRPr sz="1350" b="1">
              <a:solidFill>
                <a:srgbClr val="67E8F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26F018-9934-4C38-A837-3C1A3D7E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90825"/>
            <a:ext cx="7572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Dense Top 20 + Sparse Top 20，RRF 权重 0.6 / 0.4，合并 Top 40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A623454A-67BE-48EB-9C7B-5BAF5B28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52800"/>
            <a:ext cx="8286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DAD1369-9DD8-49FE-8AE0-5E6C1F1A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448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三路融合</a:t>
            </a:r>
            <a:endParaRPr sz="1350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D1117E1-CC32-48A4-80EF-DDBB599B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48050"/>
            <a:ext cx="642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Dense 0.</a:t>
            </a: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4</a:t>
            </a: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 + Sparse 0.2 + ColBERT 0.4，保留 Top 15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4C95EF6A-F8B9-4C45-84BD-966FCAD0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10025"/>
            <a:ext cx="7143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D2337"/>
          </a:solidFill>
          <a:ln xmlns:a="http://schemas.openxmlformats.org/drawingml/2006/main" w="9525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E5871EB-93D5-42D3-8FD6-A12E5AAB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1052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Cross Encoder</a:t>
            </a:r>
            <a:endParaRPr sz="1350" b="1">
              <a:solidFill>
                <a:srgbClr val="F59E0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E478BA5-EE70-4180-97FB-442C22D9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05275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bge-reranker-v2-m3 计算 query-passage 相关度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E4627B9B-0A0A-41EB-A716-83486B1F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667250"/>
            <a:ext cx="6000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9C4BEEE-03E6-4132-88FE-A890938C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762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最终评分</a:t>
            </a:r>
            <a:endParaRPr sz="1350" b="1">
              <a:solidFill>
                <a:srgbClr val="34D39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EB1496D-4A17-4D47-8477-96A7BCE3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0.2 × coarse_normalized + 0.8 × rerank_score，默认阈值 0.5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8E783832-19B1-42FA-90D8-C3231EFD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324475"/>
            <a:ext cx="4857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D2337"/>
          </a:solidFill>
          <a:ln xmlns:a="http://schemas.openxmlformats.org/drawingml/2006/main"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497E620-A5F5-4681-A130-85050840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4197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上下文扩展</a:t>
            </a:r>
            <a:endParaRPr sz="13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3A26385-C134-4911-BCA9-15E0770B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19725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按 parent 去重，补充命中 child 的前后相邻块，最终 Top 0 至 3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AD94EC0-1901-4449-A7A2-05C844CE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3</a:t>
            </a:r>
            <a:endParaRPr sz="9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2930411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079CE3A8-69F7-49AF-B0FE-216E5271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 规划机制</a:t>
            </a:r>
            <a:endParaRPr sz="10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56AFCD4-82E4-4E56-85AB-52A9F46C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两级 Skill 路由与安全降级</a:t>
            </a:r>
            <a:endParaRPr sz="31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E40065-2464-43C4-95B8-F01D353D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392E377-5F25-4996-B6C7-FB68ADF8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规划首先确定本轮任务边界，再决定是否生成工具调用。</a:t>
            </a:r>
            <a:endParaRPr sz="150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63D7415F-9082-47F3-8F28-58CAAB92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2381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8E00AD9-09E2-44F8-B19E-F8854BE7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用户问题</a:t>
            </a:r>
            <a:endParaRPr sz="16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8ADBAD3-58D6-403D-A304-DFDFAC84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例如：检查前十分钟有没有癫痫样放电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FE5313E0-29C7-4E5B-8E26-A9EB94DA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24384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D4B433B-4FC6-406E-A3D5-56AC0534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3837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关键词路由</a:t>
            </a:r>
            <a:endParaRPr sz="1650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50FDF06-6748-4F68-86E3-E2CA332D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4795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统计命中数，再按 priority 与名称排序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144E864F-9FF1-4EE9-B014-35DFDC89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81400"/>
            <a:ext cx="24384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7934B63-DEDB-4CAB-AA2E-F9696BA6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433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语义路由</a:t>
            </a:r>
            <a:endParaRPr sz="1650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AD54DB3-2D87-4307-8486-9A3003D1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5290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BGE-M3 对描述和 routing_examples 编码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F421C15B-F447-4C18-AC05-12D6CB56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52625"/>
            <a:ext cx="23050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34D399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BCABBAC-F961-4EBC-9961-D74D2EFD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145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专用 Skill</a:t>
            </a:r>
            <a:endParaRPr sz="1650" b="1">
              <a:solidFill>
                <a:srgbClr val="34D39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DF09AC4-0464-4D8F-908B-C56FE7D1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24125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top ≥ 0.65 且 margin ≥ 0.05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7E430234-D7B3-4B24-A100-CF9A3ADF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57550"/>
            <a:ext cx="23050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9180F75-CD6F-470D-B203-9F44518F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19475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general_eeg</a:t>
            </a:r>
            <a:endParaRPr sz="1650" b="1">
              <a:solidFill>
                <a:srgbClr val="F59E0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8EFF908-A9D3-406F-91E0-DE2BD198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29050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专用未通过，但 top ≥ 0.45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7219FECD-CD0F-411D-99E7-38A9EB7B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62475"/>
            <a:ext cx="23050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B7185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AD57055-E9C9-4EDC-873E-155FD55A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244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rPr>
              <a:t>no_skill</a:t>
            </a:r>
            <a:endParaRPr sz="1650" b="1">
              <a:solidFill>
                <a:srgbClr val="FB71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CE4F478-7182-4112-987A-6FB16EB0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33975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低置信度时禁用 EEG 工具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9794F957-D763-4815-B82D-5BC556A1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0375"/>
            <a:ext cx="19431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67E8F9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EB1FB24-5562-4D49-9389-2665446F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623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本轮计划</a:t>
            </a:r>
            <a:endParaRPr sz="1650" b="1">
              <a:solidFill>
                <a:srgbClr val="67E8F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544427A-8383-4FC9-8D38-E61823F3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71875"/>
            <a:ext cx="1562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Skill 指令 + allowed_tools + 输出规则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99" name="直接箭头连接符 63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28950" y="2638425"/>
            <a:ext cx="59055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D3EE"/>
            </a:solidFill>
            <a:prstDash val="solid"/>
            <a:tailEnd type="triangle" w="sm" len="sm"/>
          </a:ln>
        </p:spPr>
      </p:cxnSp>
      <p:cxnSp>
        <p:nvCxnSpPr>
          <p:cNvPr id="100" name="直接箭头连接符 64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057900" y="2466975"/>
            <a:ext cx="64770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101" name="直接箭头连接符 65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838700" y="32004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0849A"/>
            </a:solidFill>
            <a:prstDash val="solid"/>
            <a:tailEnd type="triangle" w="sm" len="sm"/>
          </a:ln>
        </p:spPr>
      </p:cxn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D44380C0-7532-4E57-8F34-A64A0EB3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76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无命中</a:t>
            </a:r>
            <a:endParaRPr sz="975" b="1">
              <a:solidFill>
                <a:srgbClr val="70849A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03" name="肘形连接符 67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057900" y="2466975"/>
            <a:ext cx="647700" cy="1676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104" name="肘形连接符 68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6057900" y="3771900"/>
            <a:ext cx="647700" cy="371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105" name="肘形连接符 69"/>
          <p:cNvCxnSpPr>
            <a:stCxn xmlns:a="http://schemas.openxmlformats.org/drawingml/2006/main" id="11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057900" y="4143375"/>
            <a:ext cx="647700" cy="933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B7185"/>
            </a:solidFill>
            <a:prstDash val="solid"/>
            <a:tailEnd type="triangle" w="sm" len="sm"/>
          </a:ln>
        </p:spPr>
      </p:cxnSp>
      <p:cxnSp>
        <p:nvCxnSpPr>
          <p:cNvPr id="106" name="肘形连接符 70"/>
          <p:cNvCxnSpPr>
            <a:stCxn xmlns:a="http://schemas.openxmlformats.org/drawingml/2006/main" id="14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010650" y="2466975"/>
            <a:ext cx="590550" cy="1200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4D399"/>
            </a:solidFill>
            <a:prstDash val="solid"/>
            <a:tailEnd type="triangle" w="sm" len="sm"/>
          </a:ln>
        </p:spPr>
      </p:cxnSp>
      <p:cxnSp>
        <p:nvCxnSpPr>
          <p:cNvPr id="107" name="直接箭头连接符 71"/>
          <p:cNvCxnSpPr>
            <a:stCxn xmlns:a="http://schemas.openxmlformats.org/drawingml/2006/main" id="1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9010650" y="3667125"/>
            <a:ext cx="59055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108" name="肘形连接符 72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9010650" y="3667125"/>
            <a:ext cx="590550" cy="1409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B7185"/>
            </a:solidFill>
            <a:prstDash val="solid"/>
            <a:tailEnd type="triangle" w="sm" len="sm"/>
          </a:ln>
        </p:spPr>
      </p:cxn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27680D66-9FBF-444D-8487-F853A9DF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4</a:t>
            </a:r>
            <a:endParaRPr sz="9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9922079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311DD42B-909F-40D3-87FC-91178F5D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规划执行</a:t>
            </a:r>
            <a:endParaRPr sz="10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2E2FD98-9C9F-4408-8FA8-8864461C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受约束的流式 ReAct 循环</a:t>
            </a:r>
            <a:endParaRPr sz="31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DDC870C-DBE4-46B0-9F5E-AB8931B0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7FD0194-18B7-421F-BD32-8C97330E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模型可以连续调用工具，但运行时掌握会话、授权、终止条件和错误处理。</a:t>
            </a:r>
            <a:endParaRPr sz="150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7480EB1E-4C6D-4D22-AE13-3D23CDCA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BE985A5-C7F9-491D-9414-7D0C6C7D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组织上下文</a:t>
            </a:r>
            <a:endParaRPr sz="1425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4904F4E-754D-4C05-8116-66B3641F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系统指令、会话摘要、本轮 Skill、</a:t>
            </a: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用户</a:t>
            </a: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提问、</a:t>
            </a: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RAG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23A98901-7640-46BA-90EF-63AA0CA1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699F3CD-0E50-4EEA-8064-9D2A43B5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模型决策</a:t>
            </a:r>
            <a:endParaRPr sz="1425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32478F6-8A18-4903-9B2C-591307A2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流式输出文本、推理内容与函数参数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87858AC8-50B6-4A6F-814A-A5BFA20A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0F1C374-9916-472D-AA1A-9AC20698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解析 tool_calls</a:t>
            </a:r>
            <a:endParaRPr sz="1425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FA32948-22A2-40E2-B8BB-9F3C211A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按 index 拼接增量参数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57F683D0-5BE0-4C45-B8E5-BB493252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B7185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470B72F-9F65-4F99-96D6-8DB624B3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B7185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B7185"/>
                </a:solidFill>
                <a:latin typeface="Noto Sans SC"/>
                <a:ea typeface="Noto Sans SC"/>
                <a:cs typeface="Noto Sans SC"/>
              </a:rPr>
              <a:t>运行时校验</a:t>
            </a:r>
            <a:endParaRPr sz="1425" b="1">
              <a:solidFill>
                <a:srgbClr val="FB71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7FA0074-3FF9-4D0E-8132-D35F57C2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检查 session 与 allowed_tools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36C685BB-5736-4AE4-8185-C0B0DFBB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3A6F325-41D4-4891-813E-BEC4FE0C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MCP 执行</a:t>
            </a:r>
            <a:endParaRPr sz="1425" b="1">
              <a:solidFill>
                <a:srgbClr val="F59E0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C9BF0E0-7933-4C61-B238-BC2E8589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自动注入 session_id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B3C563B3-505C-4D5A-8E4A-2266EAE8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34D399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1798087-2192-47AA-809E-422310A7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写回结果</a:t>
            </a:r>
            <a:endParaRPr sz="1425" b="1">
              <a:solidFill>
                <a:srgbClr val="34D39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E6371E9-F457-4F23-A17B-8CC40EF5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tool 消息进入下一轮模型请求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83" name="直接箭头连接符 55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336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84" name="直接箭头连接符 56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005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85" name="直接箭头连接符 57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8674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86" name="直接箭头连接符 58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7343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87" name="直接箭头连接符 59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6012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3558226B-7539-4A74-A74A-C547369D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8991600" cy="1085850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0A1F32"/>
          </a:solidFill>
          <a:ln xmlns:a="http://schemas.openxmlformats.org/drawingml/2006/main" w="9525">
            <a:solidFill>
              <a:srgbClr val="29465F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DC2FBE5-0EF6-4F92-9A6D-6E03BC53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196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继续循环</a:t>
            </a:r>
            <a:endParaRPr sz="150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6258451-6795-4128-91F6-40AC3C7A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671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存在 tool_calls 时追加 assistant 与 tool 消息，再请求模型。没有工具调用时输出最终答案。</a:t>
            </a:r>
            <a:endParaRPr sz="142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1238817A-14BA-47A4-A27C-8796F31F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149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硬上限：8 轮工具调用。达到上限后移除工具 schema，要求模型基于已有证据</a:t>
            </a:r>
            <a:r>
              <a:rPr sz="127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输出回答</a:t>
            </a:r>
            <a:r>
              <a:rPr sz="127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。</a:t>
            </a:r>
            <a:endParaRPr sz="1275" b="1">
              <a:solidFill>
                <a:srgbClr val="F59E0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F436894-CA7B-4DA2-B986-54EAD642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5</a:t>
            </a:r>
            <a:endParaRPr sz="9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7541397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052E75C-3E28-4D78-87C9-04097BB8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记忆模块</a:t>
            </a:r>
            <a:endParaRPr sz="10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DFAC1E1-EC50-4336-A58F-7F1C7789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上下文与模块</a:t>
            </a: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压缩</a:t>
            </a:r>
            <a:endParaRPr sz="31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B848EE6-EE8E-437F-A60F-68771690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963E4DF-3BA4-4B08-9313-31AF2939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6</a:t>
            </a:r>
            <a:endParaRPr sz="9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31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8c2c80acf48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7170" y="1844675"/>
            <a:ext cx="8366760" cy="4706620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4EF6B0C4-CE0B-47FC-9581-81A6360D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170" y="1341120"/>
            <a:ext cx="4152900" cy="448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</a:rPr>
              <a:t>主体结构：滑动窗口</a:t>
            </a:r>
            <a:r>
              <a:rPr>
                <a:solidFill>
                  <a:schemeClr val="bg1"/>
                </a:solidFill>
              </a:rPr>
              <a:t>+</a:t>
            </a:r>
            <a:r>
              <a:rPr>
                <a:solidFill>
                  <a:schemeClr val="bg1"/>
                </a:solidFill>
              </a:rPr>
              <a:t>摘要</a:t>
            </a:r>
            <a:r>
              <a:rPr>
                <a:solidFill>
                  <a:schemeClr val="bg1"/>
                </a:solidFill>
              </a:rPr>
              <a:t>压缩</a:t>
            </a:r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0273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A0B957B-7587-4B6D-908C-ACE338F7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工具调用</a:t>
            </a:r>
            <a:endParaRPr sz="10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59DD899-FC27-42EC-B34A-064E6C15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MCP 工具链与双重授权</a:t>
            </a:r>
            <a:endParaRPr sz="31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8270985-11FE-4B05-9D80-5FF56113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F3E403D-13D8-4705-A3E9-82D92721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模型看见稳定 schema，运行时仍会在真正执行前做二次检查。</a:t>
            </a:r>
            <a:endParaRPr sz="150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DE0DD8F8-35AD-43F7-A3F1-12DCF0F6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2333625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63D7EA4-369C-4AA0-BC86-A04B30C9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LLM</a:t>
            </a:r>
            <a:endParaRPr sz="1650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4A75614-116E-4A5B-BEA9-7E638757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952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固定展示所有运行时 Skill 所引用工具的 schema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EF921E0D-2372-4D21-82D3-936C8B0F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95500"/>
            <a:ext cx="2762250" cy="1695450"/>
          </a:xfrm>
          <a:prstGeom xmlns:a="http://schemas.openxmlformats.org/drawingml/2006/main" prst="roundRect">
            <a:avLst>
              <a:gd name="adj" fmla="val 10112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60CAC24-2786-419A-B8DC-90B07D83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574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Agent Runtime</a:t>
            </a:r>
            <a:endParaRPr sz="16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677936E-1B87-41B5-B4C4-6192FA3F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67000"/>
            <a:ext cx="2381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解析 JSON 参数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校验 Skill allowlist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注入 session_id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615C40A6-356D-4420-A42B-D46F769F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86000"/>
            <a:ext cx="2333625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A06A1AE-6F7F-4741-9F9A-B32BF96D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479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MCP Client Bridge</a:t>
            </a:r>
            <a:endParaRPr sz="1650" b="1">
              <a:solidFill>
                <a:srgbClr val="F59E0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8EA814-08FF-4556-8F86-3BD631A5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57500"/>
            <a:ext cx="1952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持久 stdio 连接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7E5AFB8B-609E-4598-94B7-71A0458C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286000"/>
            <a:ext cx="1381125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34D399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163E18E-670B-489D-9F2E-06936AFE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447925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FastMCP Server</a:t>
            </a:r>
            <a:endParaRPr sz="1650" b="1">
              <a:solidFill>
                <a:srgbClr val="34D39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8EF8524-A03A-4FE0-8365-B9C67EEB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857500"/>
            <a:ext cx="1000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会话查找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领域函数执行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结构化结果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60" name="直接箭头连接符 40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81325" y="29432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61" name="直接箭头连接符 41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515100" y="29432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D3EE"/>
            </a:solidFill>
            <a:prstDash val="solid"/>
            <a:tailEnd type="triangle" w="sm" len="sm"/>
          </a:ln>
        </p:spPr>
      </p:cxnSp>
      <p:cxnSp>
        <p:nvCxnSpPr>
          <p:cNvPr id="62" name="直接箭头连接符 42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29775" y="29432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9E0B"/>
            </a:solidFill>
            <a:prstDash val="solid"/>
            <a:tailEnd type="triangle" w="sm" len="sm"/>
          </a:ln>
        </p:spPr>
      </p:cxn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26A8D41E-1EB2-4267-B664-1F1A5381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08966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F32"/>
          </a:solidFill>
          <a:ln xmlns:a="http://schemas.openxmlformats.org/drawingml/2006/main" w="9525">
            <a:solidFill>
              <a:srgbClr val="29465F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F6A433D-F974-46BA-A0CC-3CBE7F1D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关键工程处理</a:t>
            </a:r>
            <a:endParaRPr sz="16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703834B-B41C-4E57-8688-CDDF11D5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0100"/>
            <a:ext cx="790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模型 schema 中删除 session_id，运行时绑定当前会话后自动注入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调用异常转成 ok=false、error_type、message、retryable，作为 tool 结果回传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事件检测结果先做代表性压缩，降低大规模事件列表对上下文的占用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3326DB3-80BF-488D-A299-65DEB34C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7</a:t>
            </a:r>
            <a:endParaRPr sz="9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682814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7B6B3234-044B-4011-A7CC-EA9657C1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执行轨迹</a:t>
            </a:r>
            <a:endParaRPr sz="10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E58662A-E829-4738-B1C5-CDADF46D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事件模型、实时更新与指标聚合</a:t>
            </a:r>
            <a:endParaRPr sz="31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375BBA8-3F74-478C-95FE-356227E6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097D26F-556C-45CE-827B-77C2F14F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每个阶段发出带稳定 ID 的事件，桌面端实时更新状态并聚合性能指标。</a:t>
            </a:r>
            <a:endParaRPr sz="150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99B0715-A9DC-4A29-9338-6A752718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285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FC85F75B-51C7-42CA-804F-1BF56BA2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73BF378-5505-4AE0-B164-6ED27607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0383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01</a:t>
            </a:r>
            <a:endParaRPr sz="1350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C2142D3-520E-4574-B81E-6BB5168C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383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输入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2C9242-4523-451F-A49C-BCE19FB0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383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user/message：记录原始问题、turn 与起止时间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B72118EB-7A4D-43C6-B074-7E115C59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765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34A93FB-B5C7-4A1E-AF33-F53CFF4E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5908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02</a:t>
            </a:r>
            <a:endParaRPr sz="13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475E7F7-46B9-46EF-9E61-923BC66D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908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路由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F84F8E3-2DEA-4AB7-96D3-B4A917BD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9080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routing/decision：Skill、路由来源、关键词命中与置信度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0E6A6D97-E208-4B20-BB4F-937646A5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28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FF2B184-43C5-4B80-966F-635AF9BC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1432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03</a:t>
            </a:r>
            <a:endParaRPr sz="1350" b="1">
              <a:solidFill>
                <a:srgbClr val="67E8F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9D4FBCC-B432-4B35-A202-D9AC3A8A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432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检索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5530CB6-6A8F-410B-B3D9-9DD595F8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432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rag/retrieval：检索策略、参考片段、来源与耗时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2A71E13C-ACF1-46D7-8947-1B2A91E1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81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CB136AD-8D3F-4D8C-8C91-9E3C5996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957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04</a:t>
            </a:r>
            <a:endParaRPr sz="1350" b="1">
              <a:solidFill>
                <a:srgbClr val="F59E0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906E257-8040-44F0-A2C8-A9B38389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957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模型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C67E9B0-0A7C-484A-81DD-AC85EE9D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9570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model/request：状态、TTFT、token 与缓存统计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椭圆 21">
            <a:extLst xmlns:a="http://schemas.openxmlformats.org/drawingml/2006/main">
              <a:ext uri="{FF2B5EF4-FFF2-40B4-BE49-F238E27FC236}">
                <a16:creationId xmlns:a16="http://schemas.microsoft.com/office/drawing/2014/main" id="{E673F7F1-DF9E-4114-8C24-129F69E5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33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C42EE80-26FD-4427-B2EA-66E9AD8F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2481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05</a:t>
            </a:r>
            <a:endParaRPr sz="1350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96B4D4B-69F7-416B-91B1-45DA2DEA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481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工具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DF249C9-8560-41A0-9A82-F878DD5B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481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tool/call：工具名、参数、执行状态、输入输出与耗时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6" name="椭圆 25">
            <a:extLst xmlns:a="http://schemas.openxmlformats.org/drawingml/2006/main">
              <a:ext uri="{FF2B5EF4-FFF2-40B4-BE49-F238E27FC236}">
                <a16:creationId xmlns:a16="http://schemas.microsoft.com/office/drawing/2014/main" id="{DD377994-F0A7-404C-9B66-DADFD6BF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86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874BFB8-56F9-43B7-BB4B-2B1E3807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8006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06</a:t>
            </a:r>
            <a:endParaRPr sz="1350" b="1">
              <a:solidFill>
                <a:srgbClr val="34D39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CA87D14-F77F-4A79-B280-C35E73AD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006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更新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BC7D170-3E74-45FB-BB55-0045812F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0060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同一事件 ID 从 running 更新为 complete、error 或 cancelled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C6D0A9F0-A838-4621-AC70-8C99CA6D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38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465DD41-8717-41D1-AA0D-03275BC1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3530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rPr>
              <a:t>07</a:t>
            </a:r>
            <a:endParaRPr sz="1350" b="1">
              <a:solidFill>
                <a:srgbClr val="FB71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2ACBAC8-A4BD-43BD-857A-24069AF1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530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收束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BDF4851-A32B-4BFA-B2DB-38D068F0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530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turn/end：模型轮数、工具轮数、上下文占用与总耗时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B3703496-E62C-4567-88BE-00619A88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53100"/>
            <a:ext cx="64008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63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FCBC5C3E-CA41-49DB-BF95-8B4564F0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810250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UI：时间轴、事件表、输入输出详情；摘要栏聚合耗时、TTFT、tokens 与缓存</a:t>
            </a:r>
            <a:endParaRPr sz="1200" b="1">
              <a:solidFill>
                <a:srgbClr val="67E8F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CD5C7D8E-59B5-4A71-AB38-A7BBFB05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8</a:t>
            </a:r>
            <a:endParaRPr sz="9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0451806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7B6B3234-044B-4011-A7CC-EA9657C1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端到端示例</a:t>
            </a:r>
            <a:endParaRPr sz="10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E58662A-E829-4738-B1C5-CDADF46D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一次事件筛查请求的执行轨迹</a:t>
            </a:r>
            <a:endParaRPr sz="31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375BBA8-3F74-478C-95FE-356227E6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097D26F-556C-45CE-827B-77C2F14F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示例问题：前一分钟是否存在癫痫样放电？如果有，出现在哪些导联？</a:t>
            </a:r>
            <a:endParaRPr sz="150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99B0715-A9DC-4A29-9338-6A752718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285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FC85F75B-51C7-42CA-804F-1BF56BA2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73BF378-5505-4AE0-B164-6ED27607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0383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01</a:t>
            </a:r>
            <a:endParaRPr sz="1350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C2142D3-520E-4574-B81E-6BB5168C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383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规划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2C9242-4523-451F-A49C-BCE19FB0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383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关键词命中 detection，加载 allowed_tools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B72118EB-7A4D-43C6-B074-7E115C59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765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34A93FB-B5C7-4A1E-AF33-F53CFF4E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5908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02</a:t>
            </a:r>
            <a:endParaRPr sz="13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475E7F7-46B9-46EF-9E61-923BC66D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908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检索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F84F8E3-2DEA-4AB7-96D3-B4A917BD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9080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识别为记录特异性请求，本轮跳过 RAG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0E6A6D97-E208-4B20-BB4F-937646A5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28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FF2B184-43C5-4B80-966F-635AF9BC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1432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03</a:t>
            </a:r>
            <a:endParaRPr sz="1350" b="1">
              <a:solidFill>
                <a:srgbClr val="67E8F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9D4FBCC-B432-4B35-A202-D9AC3A8A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432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模型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5530CB6-6A8F-410B-B3D9-9DD595F8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432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记录时长未知时，先请求 get_eeg_basic_information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2A71E13C-ACF1-46D7-8947-1B2A91E1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81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CB136AD-8D3F-4D8C-8C91-9E3C5996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957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04</a:t>
            </a:r>
            <a:endParaRPr sz="1350" b="1">
              <a:solidFill>
                <a:srgbClr val="F59E0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906E257-8040-44F0-A2C8-A9B38389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957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执行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C67E9B0-0A7C-484A-81DD-AC85EE9D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9570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运行时注入 session_id，经 MCP 获取记录范围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椭圆 21">
            <a:extLst xmlns:a="http://schemas.openxmlformats.org/drawingml/2006/main">
              <a:ext uri="{FF2B5EF4-FFF2-40B4-BE49-F238E27FC236}">
                <a16:creationId xmlns:a16="http://schemas.microsoft.com/office/drawing/2014/main" id="{E673F7F1-DF9E-4114-8C24-129F69E5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33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C42EE80-26FD-4427-B2EA-66E9AD8F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2481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05</a:t>
            </a:r>
            <a:endParaRPr sz="1350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96B4D4B-69F7-416B-91B1-45DA2DEA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481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模型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DF249C9-8560-41A0-9A82-F878DD5B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481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构造 detect_eeg_events，窗口 0 至 60 秒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6" name="椭圆 25">
            <a:extLst xmlns:a="http://schemas.openxmlformats.org/drawingml/2006/main">
              <a:ext uri="{FF2B5EF4-FFF2-40B4-BE49-F238E27FC236}">
                <a16:creationId xmlns:a16="http://schemas.microsoft.com/office/drawing/2014/main" id="{DD377994-F0A7-404C-9B66-DADFD6BF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86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874BFB8-56F9-43B7-BB4B-2B1E3807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8006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06</a:t>
            </a:r>
            <a:endParaRPr sz="1350" b="1">
              <a:solidFill>
                <a:srgbClr val="34D39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CA87D14-F77F-4A79-B280-C35E73AD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006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记忆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BC7D170-3E74-45FB-BB55-0045812F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0060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把事件数量、时间、导联、脑区和置信度写入摘要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C6D0A9F0-A838-4621-AC70-8C99CA6D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38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465DD41-8717-41D1-AA0D-03275BC1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3530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rPr>
              <a:t>07</a:t>
            </a:r>
            <a:endParaRPr sz="1350" b="1">
              <a:solidFill>
                <a:srgbClr val="FB71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2ACBAC8-A4BD-43BD-857A-24069AF1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530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回答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BDF4851-A32B-4BFA-B2DB-38D068F0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530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只引用工具证据，并说明需要专业人员复核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B3703496-E62C-4567-88BE-00619A88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791200"/>
            <a:ext cx="44005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63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FCBC5C3E-CA41-49DB-BF95-8B4564F0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88645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可观测性：路由分数、工具耗时、上下文占用、缓存命中率</a:t>
            </a:r>
            <a:endParaRPr sz="1200" b="1">
              <a:solidFill>
                <a:srgbClr val="67E8F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CD5C7D8E-59B5-4A71-AB38-A7BBFB05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09</a:t>
            </a:r>
            <a:endParaRPr sz="9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0451806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588A90C-227E-4E9F-8607-2762B7BB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工程总结</a:t>
            </a:r>
            <a:endParaRPr sz="10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48146E7-485C-40C3-B239-D8AE40A8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当前实现与演进方向</a:t>
            </a:r>
            <a:endParaRPr sz="31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E45AECC-A60E-4663-8E5C-454B8252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8167386-D873-4E1E-B820-1A3449DE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面试中需要同时说明已经落地的能力，以及下一阶段可以怎样扩展。</a:t>
            </a:r>
            <a:endParaRPr sz="150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C2A6A6E-E82D-4797-98BC-271B7DFB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当前实现</a:t>
            </a:r>
            <a:endParaRPr sz="1950" b="1">
              <a:solidFill>
                <a:srgbClr val="34D39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A3DA843-7C28-4C43-8F73-9D0845EE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确定性关键词与本地语义路由结合，低置信度安全降级</a:t>
            </a:r>
            <a:endParaRPr sz="142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Skill 指令按轮次隔离，执行前强制校验工具权限</a:t>
            </a:r>
            <a:endParaRPr sz="142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三层记忆配合 token 预算，RAG 只在当前轮临时注入</a:t>
            </a:r>
            <a:endParaRPr sz="142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MCP 解耦 Agent 与 EEG 算法，并提供完整执行轨迹</a:t>
            </a:r>
            <a:endParaRPr sz="142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8997005-292E-49C0-BB70-C3564DF4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38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演进方向</a:t>
            </a:r>
            <a:endParaRPr sz="1950" b="1">
              <a:solidFill>
                <a:srgbClr val="F59E0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47B5EB5-F62B-4EDB-A99C-73EBC383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98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增加显式任务图，让复杂问题拆成可检查的多 Skill 子计划</a:t>
            </a:r>
            <a:endParaRPr sz="142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把关键事件与报告写入可持久化记忆，并设计版本与权限策略</a:t>
            </a:r>
            <a:endParaRPr sz="142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建立路由准确率、工具成功率、引用正确性与临床复核指标</a:t>
            </a:r>
            <a:endParaRPr sz="142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对独立工具调用引入并行执行，同时保持会话状态一致性</a:t>
            </a:r>
            <a:endParaRPr sz="142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4EBD0D57-9938-4869-843B-2422A3A3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610850" cy="685800"/>
          </a:xfrm>
          <a:prstGeom xmlns:a="http://schemas.openxmlformats.org/drawingml/2006/main" prst="roundRect">
            <a:avLst>
              <a:gd name="adj" fmla="val 25000"/>
            </a:avLst>
          </a:prstGeom>
          <a:gradFill xmlns:a="http://schemas.openxmlformats.org/drawingml/2006/main">
            <a:gsLst>
              <a:gs pos="0">
                <a:srgbClr val="0E2A42"/>
              </a:gs>
              <a:gs pos="100000">
                <a:srgbClr val="14274A"/>
              </a:gs>
            </a:gsLst>
            <a:lin ang="5400000"/>
          </a:gra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9E1A759-9BBC-4E2F-BE90-18207A7D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面试总结</a:t>
            </a:r>
            <a:endParaRPr sz="150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C863A79-9434-4C38-BACB-1B871F40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5816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EEGAgent 的技术重点是把 LLM 的灵活决策放进一个可控、可追踪、可扩展的领域运行时。</a:t>
            </a:r>
            <a:endParaRPr sz="1575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B8C083B-0CB4-4EDE-845A-81E50D22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10</a:t>
            </a:r>
            <a:endParaRPr sz="9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730973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2026-09-07T03:23:39.8970000Z</dcterms:created>
  <dcterms:modified xsi:type="dcterms:W3CDTF">2026-09-07T03:23:39.8970000Z</dcterms:modified>
</coreProperties>
</file>