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e927b2c6e54d49" /><Relationship Type="http://schemas.openxmlformats.org/officeDocument/2006/relationships/extended-properties" Target="/docProps/app.xml" Id="Rc44dceb37abf495f" /><Relationship Type="http://schemas.openxmlformats.org/officeDocument/2006/relationships/officeDocument" Target="/ppt/presentation.xml" Id="Rd507709bbf5b4f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5cb3be337442b6"/>
  </p:sldMasterIdLst>
  <p:notesMasterIdLst>
    <p:notesMasterId xmlns:r="http://schemas.openxmlformats.org/officeDocument/2006/relationships" r:id="Rf631a69843e341bd"/>
  </p:notesMasterIdLst>
  <p:sldIdLst>
    <p:sldId xmlns:r="http://schemas.openxmlformats.org/officeDocument/2006/relationships" id="256" r:id="R49f8c9c9ddda4d1f"/>
    <p:sldId xmlns:r="http://schemas.openxmlformats.org/officeDocument/2006/relationships" id="257" r:id="R3fe34498d0b44918"/>
    <p:sldId xmlns:r="http://schemas.openxmlformats.org/officeDocument/2006/relationships" id="258" r:id="R9996ffe9d09c49a8"/>
    <p:sldId xmlns:r="http://schemas.openxmlformats.org/officeDocument/2006/relationships" id="259" r:id="R633ed82628674b8c"/>
    <p:sldId xmlns:r="http://schemas.openxmlformats.org/officeDocument/2006/relationships" id="260" r:id="Rccfc5470ed604ef2"/>
    <p:sldId xmlns:r="http://schemas.openxmlformats.org/officeDocument/2006/relationships" id="261" r:id="Rc1d0ae5fcb3b4f7f"/>
    <p:sldId xmlns:r="http://schemas.openxmlformats.org/officeDocument/2006/relationships" id="262" r:id="Rd43cd566b7914171"/>
    <p:sldId xmlns:r="http://schemas.openxmlformats.org/officeDocument/2006/relationships" id="263" r:id="R30c4ca42f86e47d7"/>
    <p:sldId xmlns:r="http://schemas.openxmlformats.org/officeDocument/2006/relationships" id="264" r:id="R6d4b9974637c4c7b"/>
    <p:sldId xmlns:r="http://schemas.openxmlformats.org/officeDocument/2006/relationships" id="265" r:id="R6c7f2146606942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50b063152a4a33" /><Relationship Type="http://schemas.openxmlformats.org/officeDocument/2006/relationships/slideMaster" Target="/ppt/slideMasters/slideMaster1.xml" Id="R9b5cb3be337442b6" /><Relationship Type="http://schemas.openxmlformats.org/officeDocument/2006/relationships/notesMaster" Target="/ppt/notesMasters/notesMaster1.xml" Id="Rf631a69843e341bd" /><Relationship Type="http://schemas.openxmlformats.org/officeDocument/2006/relationships/presProps" Target="/ppt/presProps.xml" Id="R602b28d4b251442a" /><Relationship Type="http://schemas.openxmlformats.org/officeDocument/2006/relationships/tableStyles" Target="/ppt/tableStyles.xml" Id="R60277317c04f48aa" /><Relationship Type="http://schemas.openxmlformats.org/officeDocument/2006/relationships/slide" Target="/ppt/slides/slide1.xml" Id="R49f8c9c9ddda4d1f" /><Relationship Type="http://schemas.openxmlformats.org/officeDocument/2006/relationships/slide" Target="/ppt/slides/slide2.xml" Id="R3fe34498d0b44918" /><Relationship Type="http://schemas.openxmlformats.org/officeDocument/2006/relationships/slide" Target="/ppt/slides/slide3.xml" Id="R9996ffe9d09c49a8" /><Relationship Type="http://schemas.openxmlformats.org/officeDocument/2006/relationships/slide" Target="/ppt/slides/slide4.xml" Id="R633ed82628674b8c" /><Relationship Type="http://schemas.openxmlformats.org/officeDocument/2006/relationships/slide" Target="/ppt/slides/slide5.xml" Id="Rccfc5470ed604ef2" /><Relationship Type="http://schemas.openxmlformats.org/officeDocument/2006/relationships/slide" Target="/ppt/slides/slide6.xml" Id="Rc1d0ae5fcb3b4f7f" /><Relationship Type="http://schemas.openxmlformats.org/officeDocument/2006/relationships/slide" Target="/ppt/slides/slide7.xml" Id="Rd43cd566b7914171" /><Relationship Type="http://schemas.openxmlformats.org/officeDocument/2006/relationships/slide" Target="/ppt/slides/slide8.xml" Id="R30c4ca42f86e47d7" /><Relationship Type="http://schemas.openxmlformats.org/officeDocument/2006/relationships/slide" Target="/ppt/slides/slide9.xml" Id="R6d4b9974637c4c7b" /><Relationship Type="http://schemas.openxmlformats.org/officeDocument/2006/relationships/slide" Target="/ppt/slides/slide10.xml" Id="R6c7f2146606942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524d0de40a4a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da4f695b5f45bd" /><Relationship Type="http://schemas.openxmlformats.org/officeDocument/2006/relationships/notesMaster" Target="/ppt/notesMasters/notesMaster1.xml" Id="R1b8d8504747843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cfacbbf2194383" /><Relationship Type="http://schemas.openxmlformats.org/officeDocument/2006/relationships/notesMaster" Target="/ppt/notesMasters/notesMaster1.xml" Id="R49b1047007d94f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29c89c17d74187" /><Relationship Type="http://schemas.openxmlformats.org/officeDocument/2006/relationships/notesMaster" Target="/ppt/notesMasters/notesMaster1.xml" Id="R8bd90af8865448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046a3f9474343ca" /><Relationship Type="http://schemas.openxmlformats.org/officeDocument/2006/relationships/notesMaster" Target="/ppt/notesMasters/notesMaster1.xml" Id="R7f0580a0e2c3413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c7648802f94ed7" /><Relationship Type="http://schemas.openxmlformats.org/officeDocument/2006/relationships/notesMaster" Target="/ppt/notesMasters/notesMaster1.xml" Id="R5ef40a5673b24f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da669bf137433b" /><Relationship Type="http://schemas.openxmlformats.org/officeDocument/2006/relationships/notesMaster" Target="/ppt/notesMasters/notesMaster1.xml" Id="R87f8f1821a654f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7fa4a0e4244fcb" /><Relationship Type="http://schemas.openxmlformats.org/officeDocument/2006/relationships/notesMaster" Target="/ppt/notesMasters/notesMaster1.xml" Id="R9f66ec0f219b4a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da0e3e9f6d4671" /><Relationship Type="http://schemas.openxmlformats.org/officeDocument/2006/relationships/notesMaster" Target="/ppt/notesMasters/notesMaster1.xml" Id="R0379e1f9d61645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41edde028b4b9d" /><Relationship Type="http://schemas.openxmlformats.org/officeDocument/2006/relationships/notesMaster" Target="/ppt/notesMasters/notesMaster1.xml" Id="R84713a2f6a334a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df6d6a65594571" /><Relationship Type="http://schemas.openxmlformats.org/officeDocument/2006/relationships/notesMaster" Target="/ppt/notesMasters/notesMaster1.xml" Id="Rff1c7a5436e248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建议开场：EEGAgent 不是把 LLM 直接接到 EEG 数据，而是用运行时把规划、工具、记忆和知识检索拆成可控模块。</a:t>
            </a:r>
          </a:p>
          <a:p xmlns:a="http://schemas.openxmlformats.org/drawingml/2006/main">
            <a:r>
              <a:t>来源：README.md；agent_runtime；RAG；mcp_server。</a:t>
            </a:r>
          </a:p>
          <a:p xmlns:a="http://schemas.openxmlformats.org/drawingml/2006/main">
            <a:r>
              <a:t>封面视觉为项目已有生成资源，仅用于技术主题表达。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面试讲法：用分层先建立全局认知。规划、记忆、调用协议、领域能力和知识库各自可替换。</a:t>
            </a:r>
          </a:p>
          <a:p xmlns:a="http://schemas.openxmlformats.org/drawingml/2006/main">
            <a:r>
              <a:t>当前桌面端通过 stdio 启动本地 MCP 服务，Agent 通过 OpenAI 兼容接口调用 DeepSeek。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关键词路由适合高精度意图，命中后不再走语义选择。</a:t>
            </a:r>
          </a:p>
          <a:p xmlns:a="http://schemas.openxmlformats.org/drawingml/2006/main">
            <a:r>
              <a:t>语义路由使用本地 BGE-M3，默认专用阈值 0.65，候选分差 0.05，general_eeg 下限 0.45。</a:t>
            </a:r>
          </a:p>
          <a:p xmlns:a="http://schemas.openxmlformats.org/drawingml/2006/main">
            <a:r>
              <a:t>每个 Skill 的描述与多条 routing_examples 都参与编码，每个 Skill 取最相似两条的均值。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这是一个工程化 ReAct 循环：模型提出 action，MCP 返回 observation，模型继续决策。</a:t>
            </a:r>
          </a:p>
          <a:p xmlns:a="http://schemas.openxmlformats.org/drawingml/2006/main">
            <a:r>
              <a:t>运行时收集流式 reasoning_content 和 tool_call 增量，确保 DeepSeek 思考模式在后续工具轮次保持上下文连续。</a:t>
            </a:r>
          </a:p>
          <a:p xmlns:a="http://schemas.openxmlformats.org/drawingml/2006/main">
            <a:r>
              <a:t>MAX_TOOL_ROUNDS 为 8。错误会转为模型可见的结构化结果，不直接让整轮崩溃。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会话摘要不是让模型自由总结工具原始输出。代码只抽取白名单字段，避免把大 payload 长期保存。</a:t>
            </a:r>
          </a:p>
          <a:p xmlns:a="http://schemas.openxmlformats.org/drawingml/2006/main">
            <a:r>
              <a:t>历史压缩以完整 user turn 为单位，tool_calls 与对应 tool 消息保持原子性。</a:t>
            </a:r>
          </a:p>
          <a:p xmlns:a="http://schemas.openxmlformats.org/drawingml/2006/main">
            <a:r>
              <a:t>RAG 文本只临时注入当前 user message，模型返回后会替换回原问题，避免知识片段污染长期记忆。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双重授权包括 schema 暴露和执行前 allowlist 校验。当前实现为了保持提示词前缀稳定，模型在会话内看见固定工具 schema 联集。</a:t>
            </a:r>
          </a:p>
          <a:p xmlns:a="http://schemas.openxmlformats.org/drawingml/2006/main">
            <a:r>
              <a:t>真正调用时仍按当前 Skill 检查权限，所以 schema 稳定不会扩大执行能力。</a:t>
            </a:r>
          </a:p>
          <a:p xmlns:a="http://schemas.openxmlformats.org/drawingml/2006/main">
            <a:r>
              <a:t>MCPClientBridge 在后台线程维护异步 stdio 会话，对桌面端提供同步 list_tools 与 call_tool。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Parent 用于保存章节级上下文和来源元数据，Child 用于精细召回。</a:t>
            </a:r>
          </a:p>
          <a:p xmlns:a="http://schemas.openxmlformats.org/drawingml/2006/main">
            <a:r>
              <a:t>表格和列表按行拆分，普通段落按句子边界拆分；稳定 ID 使用 SHA-1 摘要。</a:t>
            </a:r>
          </a:p>
          <a:p xmlns:a="http://schemas.openxmlformats.org/drawingml/2006/main">
            <a:r>
              <a:t>FAISS 使用 IndexFlatIP，Sparse 使用 token_id 到文档权重的倒排表。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模糊问题先用 Dense Top-1 做 FAISS probe，默认阈值 0.35。</a:t>
            </a:r>
          </a:p>
          <a:p xmlns:a="http://schemas.openxmlformats.org/drawingml/2006/main">
            <a:r>
              <a:t>三路融合使用 rank 而不是直接混合原始分数，降低不同打分尺度造成的偏差。</a:t>
            </a:r>
          </a:p>
          <a:p xmlns:a="http://schemas.openxmlformats.org/drawingml/2006/main">
            <a:r>
              <a:t>reranker 输出 sigmoid 相关度，低于 0.5 的候选会被过滤，因此最终可能返回 0 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这个例子适合面试时按 Trace 顺序讲，能够把规划、RAG 策略、MCP、记忆和安全输出串起来。</a:t>
            </a:r>
          </a:p>
          <a:p xmlns:a="http://schemas.openxmlformats.org/drawingml/2006/main">
            <a:r>
              <a:t>detection Skill 规定窗口不超过 600 秒；本例使用 0 至 60 秒。</a:t>
            </a:r>
          </a:p>
          <a:p xmlns:a="http://schemas.openxmlformats.org/drawingml/2006/main">
            <a:r>
              <a:t>路由、RAG、模型请求、工具调用和 turn end 都会发出可视化 trace 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最后一页把技术亮点与不足同时讲清楚。右侧均为建议，不代表当前已经实现。</a:t>
            </a:r>
          </a:p>
          <a:p xmlns:a="http://schemas.openxmlformats.org/drawingml/2006/main">
            <a:r>
              <a:t>可根据应聘岗位调整重点：Agent 岗强调规划和记忆，平台岗强调 MCP 与可观测性，算法岗强调 RAG 与 EEG 工具。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4a91529bf48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f235bbf0ae4892" /><Relationship Type="http://schemas.openxmlformats.org/officeDocument/2006/relationships/slideLayout" Target="/ppt/slideLayouts/slideLayout1.xml" Id="R358697eb623146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8697eb623146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ac2ab8120477c" /><Relationship Type="http://schemas.openxmlformats.org/officeDocument/2006/relationships/image" Target="/ppt/media/image.png" Id="R77e199d6a9a9430c" /><Relationship Type="http://schemas.openxmlformats.org/officeDocument/2006/relationships/notesSlide" Target="/ppt/notesSlides/notesSlide1.xml" Id="R74616b8f16864f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7817ec55e4372" /><Relationship Type="http://schemas.openxmlformats.org/officeDocument/2006/relationships/notesSlide" Target="/ppt/notesSlides/notesSlide2.xml" Id="Re2e2b989b7d741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0caf7a0eb441a" /><Relationship Type="http://schemas.openxmlformats.org/officeDocument/2006/relationships/notesSlide" Target="/ppt/notesSlides/notesSlide3.xml" Id="R2d88e885fa504f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1ca2b8f404e73" /><Relationship Type="http://schemas.openxmlformats.org/officeDocument/2006/relationships/notesSlide" Target="/ppt/notesSlides/notesSlide4.xml" Id="R8bf35515be334b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2f7f3e15949bd" /><Relationship Type="http://schemas.openxmlformats.org/officeDocument/2006/relationships/notesSlide" Target="/ppt/notesSlides/notesSlide5.xml" Id="R44c42d17517e44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b7cfd1b7d4493" /><Relationship Type="http://schemas.openxmlformats.org/officeDocument/2006/relationships/notesSlide" Target="/ppt/notesSlides/notesSlide6.xml" Id="Raface141b0d24a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72a8318f44057" /><Relationship Type="http://schemas.openxmlformats.org/officeDocument/2006/relationships/notesSlide" Target="/ppt/notesSlides/notesSlide7.xml" Id="Rcaf18dcc077e41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d923efd464797" /><Relationship Type="http://schemas.openxmlformats.org/officeDocument/2006/relationships/notesSlide" Target="/ppt/notesSlides/notesSlide8.xml" Id="R6d4bd27b9ff448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7b71354274564" /><Relationship Type="http://schemas.openxmlformats.org/officeDocument/2006/relationships/notesSlide" Target="/ppt/notesSlides/notesSlide9.xml" Id="R4b0ed05ef8a746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b48e2a489458d" /><Relationship Type="http://schemas.openxmlformats.org/officeDocument/2006/relationships/notesSlide" Target="/ppt/notesSlides/notesSlide10.xml" Id="R2fdcd9a3a6f746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199d6a9a9430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3CFC0-1510-48CF-B279-CA49D971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11E"/>
              </a:gs>
              <a:gs pos="72000">
                <a:srgbClr val="06111E">
                  <a:alpha val="97000"/>
                </a:srgbClr>
              </a:gs>
              <a:gs pos="100000">
                <a:srgbClr val="06111E">
                  <a:alpha val="25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426F6-2C6A-46E4-9202-3E0A1CB5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247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D3EE">
              <a:alpha val="14000"/>
            </a:srgbClr>
          </a:solidFill>
          <a:ln xmlns:a="http://schemas.openxmlformats.org/drawingml/2006/main" w="9525">
            <a:solidFill>
              <a:srgbClr val="22D3EE">
                <a:alpha val="55000"/>
              </a:srgbClr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INTERVIEW TECHNICAL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B0F84-D41F-4414-8A2E-70313032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F72FE-FEED-470B-BFD0-57C32155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42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智能体技术架构与工程实现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BC4BA-2DC3-48CB-98CB-3FC9A21C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42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规划机制、记忆模块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MCP 工具调用、RAG 建库与检索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9F4AFA-AD69-4FC0-8655-556F1D01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面试讲解版  10 页</a:t>
            </a:r>
          </a:p>
        </p:txBody>
      </p:sp>
    </p:spTree>
    <p:extLst>
      <p:ext uri="{BB962C8B-B14F-4D97-AF65-F5344CB8AC3E}">
        <p14:creationId xmlns:p14="http://schemas.microsoft.com/office/powerpoint/2010/main" val="8839720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8903EF-B498-4FF3-B41D-9D83AE08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01  系统总览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239D9-C6FE-400E-8F8E-2D18F701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五层技术架构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67B7B-3345-4061-AF8E-9AD2EAAE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ED942-0B17-49E7-814D-B3C0F037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核心目标是让 LLM 负责决策，让确定性代码负责边界、执行和状态管理。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7EB44-82C9-4595-A9D3-38E7FF53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1FBEA-F0CC-4F09-BFE5-D93D1D3D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交互层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BA0C0-C651-40EA-9869-C3E8EA6C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19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PySide6 桌面端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25E35-B107-477F-B6D9-C5629F3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193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EDF 选择、对话流、执行轨迹、取消与导出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C7E88-53F1-4E2E-BFFC-82C543DE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C2E"/>
          </a:solidFill>
          <a:ln xmlns:a="http://schemas.openxmlformats.org/drawingml/2006/main" w="9525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5DBA1-345C-418B-95FC-CD91CE5D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Agent 运行时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F12E0-E5A9-43B6-AB0D-9DDBDBC3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003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Planner + Memory + ReAct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54879-6042-4C2F-8E31-6A9F5EBA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003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路由 Skill、管理上下文、驱动多轮工具调用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79135-DC38-44E1-BF13-5BD6EC95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F59E0B">
                <a:alpha val="7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8DD0C-E28D-4D85-9E56-248B0EBA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协议层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0E55C-CC73-489C-A15F-9D45BB59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81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MCP over stdio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0AD60-6667-41B1-B8BE-B30251F7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814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持久连接、工具发现、结构化调用与错误归一化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86545-9960-4A4B-86B1-835D45D0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A1C2E"/>
          </a:solidFill>
          <a:ln xmlns:a="http://schemas.openxmlformats.org/drawingml/2006/main" w="9525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5ADD7-45F7-4C02-94BF-4F61D79F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能力层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735231-DB02-4392-A110-445668C1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5624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 Tools + Session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13F308-C21A-4503-B373-19871CFD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624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基础信息、片段探索、事件检测、报告生成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0CDD0-A7EB-48E2-9759-D4D96F67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0C2135"/>
          </a:solidFill>
          <a:ln xmlns:a="http://schemas.openxmlformats.org/drawingml/2006/main" w="9525">
            <a:solidFill>
              <a:srgbClr val="67E8F9">
                <a:alpha val="70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051073-ED8C-4CB1-8EF0-263B2AE7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知识层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B4157D-626A-4554-83BA-F63959D4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343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Local 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AC3A15-E4BA-4CFD-8A0D-D6F6B8D1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3435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Docling 建库、BGE-M3 混合召回、重排与临时注入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CAA6F1-FE8E-4E83-A285-43F93AD8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来源：desktop_app.py、agent_runtime、mcp_server、eeg_core、RAG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FEEC3C-8AF2-4FA0-B1E9-7EEC6BF5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2356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6CB663-4E23-4895-BC9A-819570F8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02  规划机制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1DE32-C9FA-49BE-A167-4E63F063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两级 Skill 路由与安全降级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610F6-339C-44B5-B505-E83D8F01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09D16-CA21-4BFC-B8B5-380F22D1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规划首先确定本轮任务边界，再决定是否生成工具调用。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B8967-75DD-42C1-9FE2-594F527BB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2381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09D5B-6D6D-4297-9786-251AC477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669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用户问题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E30B4-EA1A-42A8-ACCA-1B8D9023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例如：检查前十分钟有没有癫痫样放电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C76D4-454B-4B66-B59A-E56C1816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24384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6A552-2BDC-4878-8FC7-7D4763AE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383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关键词路由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6C15C-8CD5-4A97-B298-41C2A5AD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统计命中数，再按 priority 与名称排序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27221-9A90-4A8E-A16B-5B512D55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81400"/>
            <a:ext cx="243840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92B9E-4072-41D8-8D3A-6FAD4174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433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语义路由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1B3AA-F693-40F3-956C-3B997F7D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52900"/>
            <a:ext cx="2057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BGE-M3 对描述和 routing_examples 编码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816BB-8EFB-445D-9F99-F825E9FB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52625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07A8B-4847-4B91-B597-26D056D5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1455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专用 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88FA2-1A05-45D1-95BF-BC80F7C3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2412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top ≥ 0.65 且 margin ≥ 0.05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B6418-2A67-4629-8159-9DB11AEC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57550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F3D51-4A0D-4C35-AEA0-C2EB553B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19475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general_eeg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E2384-A3C6-49CA-94D5-029252F9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专用未通过，但 top ≥ 0.45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E18C79-7C58-4221-AC71-0F6940F1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2305050" cy="1028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3789E-CA7A-4442-83BA-9C6F1EEF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724400"/>
            <a:ext cx="1924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no_skill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E4480-9E0A-4F33-8FB2-B66273EB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33975"/>
            <a:ext cx="19240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低置信度时禁用 EEG 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43718-B16C-4BF8-80A0-90A030B3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0375"/>
            <a:ext cx="1943100" cy="133350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67E8F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C29138-AD7A-4C13-B899-333422CB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62300"/>
            <a:ext cx="156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本轮计划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51363F-C4CF-4721-9A77-4A319213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71875"/>
            <a:ext cx="1562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Skill 指令 + allowed_tools + 输出规则</a:t>
            </a:r>
          </a:p>
        </p:txBody>
      </p:sp>
      <p:cxnSp>
        <p:nvCxnSpPr>
          <p:cNvPr id="6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028950" y="2638425"/>
            <a:ext cx="5905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057900" y="2466975"/>
            <a:ext cx="64770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838700" y="32004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0849A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DD7019-145A-4650-A4C1-E6F1E51E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766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无命中</a:t>
            </a:r>
          </a:p>
        </p:txBody>
      </p:sp>
      <p:cxnSp>
        <p:nvCxnSpPr>
          <p:cNvPr id="6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6057900" y="2466975"/>
            <a:ext cx="647700" cy="1676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6057900" y="3771900"/>
            <a:ext cx="647700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11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57900" y="4143375"/>
            <a:ext cx="64770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B7185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4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010650" y="2466975"/>
            <a:ext cx="590550" cy="1200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4D399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9010650" y="3667125"/>
            <a:ext cx="59055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 flipV="1">
            <a:off x="9010650" y="3667125"/>
            <a:ext cx="590550" cy="1409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B7185"/>
            </a:solidFill>
            <a:prstDash val="solid"/>
            <a:tailEnd type="triangle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8E3EC2-D856-4B88-8B1C-155B23C1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语义分数取每个 Skill 最相似的 2 条样例均值，减少单条样例偶然命中。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E36DE1-3BDB-4D38-9713-B9CE4880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来源：agent_runtime/skills/selector.py、semantic_selector.py、registry.py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4509A3-E729-411B-A84E-F97D5AAA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972173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5A1BAA-4F1C-4C7C-9006-78276557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03  规划执行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12DA8-3152-4869-B5AA-3E220650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受约束的流式 ReAct 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FADA4-D63B-4610-9B52-02BE6740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7F0BD-6CED-4515-9C57-B729FB59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模型可以连续调用工具，但运行时掌握会话、授权、终止条件和错误处理。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02FB7-E72E-4021-8569-D09B7ACA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3C930-C9E0-4298-AD76-749FCF03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组织上下文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C707C1-0730-4C4A-B98B-B38FC42B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系统指令、会话摘要、本轮 Skill、RAG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7288A-1F19-4A4B-B3D1-A783E8D3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5123F-74A3-44B8-95D4-4E400773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模型决策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4B63B-787B-412A-8FEC-F0A9B895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流式输出文本、推理内容与函数参数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C1A76-8554-43D0-B3EE-26D24522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F0BEB-DD3F-4228-AD3A-2FEA3DE0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解析 tool_calls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48F89C-657C-43AF-89B3-AF536BC0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按 index 拼接增量参数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3EBE86-3DD2-43D7-9F55-8017D3B8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8943A0-F0B1-44D2-8473-D4983667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运行时校验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76359-B89B-4215-AEC6-0B72019A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检查 session 与 allowed_tools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A1B6E-BEC9-40A9-A108-CF9A0EB0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4178A7-966D-4061-9F3B-2C169F12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MCP 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C363C-DD13-4ED4-B1F3-A0F5D6B6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自动注入 session_id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FC537-6AD2-48D1-B6CC-621EB12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81250"/>
            <a:ext cx="1485900" cy="15621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A4FAF-70B8-4F6A-9656-C5A2524C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43175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写回结果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22E4C5-9F49-4DE6-BF50-33688433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52750"/>
            <a:ext cx="110490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tool 消息进入下一轮模型请求</a:t>
            </a:r>
          </a:p>
        </p:txBody>
      </p:sp>
      <p:cxnSp>
        <p:nvCxnSpPr>
          <p:cNvPr id="56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336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0005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8674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7343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6012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4C003-5B4F-4B45-B3FF-B9D48397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8991600" cy="1085850"/>
          </a:xfrm>
          <a:prstGeom xmlns:a="http://schemas.openxmlformats.org/drawingml/2006/main" prst="roundRect">
            <a:avLst>
              <a:gd name="adj" fmla="val 17544"/>
            </a:avLst>
          </a:prstGeom>
          <a:solidFill xmlns:a="http://schemas.openxmlformats.org/drawingml/2006/main">
            <a:srgbClr val="0A1F32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87E124-B09D-4E62-801F-17CD4460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1965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继续循环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33ABB7-94C1-461A-A829-2BCDA634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671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存在 tool_calls 时追加 assistant 与 tool 消息，再请求模型。没有工具调用时输出最终答案。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308D8D-1897-4C07-BF13-0561AF15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149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硬上限：8 轮工具调用。达到上限后移除工具 schema，要求模型基于已有证据收敛。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A9B1A0-4640-4163-A266-ECF74F97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来源：agent_runtime/mcp_chat_agent.py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56143A-4B8D-4A0C-ACC9-EB163C5B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66496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843634-E8B3-41D5-85C5-E1769190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04  记忆模块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89306-7AAF-431B-AF5A-0D77D4B3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三层记忆与低频压缩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BE5E0-D13C-477F-907D-81182022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1B31E-DE26-49EE-A58B-6C65C0A5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系统分别保存对话过程、稳定事实和 EEG 领域状态，避免把所有信息都塞进聊天历史。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65314-9259-4BEE-9B21-AF092B75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8966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D2236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F8F45-B904-4036-8D22-9ED100A1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短期对话记忆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2277E-D1D8-4EAF-8DEF-4627D0FA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messages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92CB3D-B8AB-40E0-A380-4A3CDAE1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95525"/>
            <a:ext cx="802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完整 user、assistant、tool 交换，保留 reasoning_content 供工具轮次续接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E44E2-E38B-40AA-87D0-FF11D4E6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108966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132444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76B49-3E88-40B8-A76F-8A6C7EC2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结构化会话摘要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FFDD5-8207-48CB-9232-9122CE31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session_summary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B7B65-DA37-4D0B-A79D-155E34FD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62325"/>
            <a:ext cx="802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recording、patient、analyses、findings、reports、conversation，每类最多 12 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BDFEC-F466-46B4-BC13-4EEE108B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48150"/>
            <a:ext cx="108966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0D2236"/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79E3A-6D28-4121-8B74-F9213B4C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领域状态记忆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DEB9C-78BC-4A21-B50B-739E853A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529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EEGSession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B9621E-E191-46BF-A66B-FE7D2CFC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29125"/>
            <a:ext cx="802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raw、processed_data、bipolar_channels、findings、reports，由 session_id 隔离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47460-0301-409B-80AC-F529E7ED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8966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B1B2C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F2D45-7226-46AB-ABE9-848C3FA6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压缩策略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E3AAE0-855E-4BC2-9956-EAD7C728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007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32K token 上限。达到 80% 后压缩最旧完整轮次，目标降到 55%。系统提示、会话摘要和最新轮次继续保留。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4AA89-03D9-42DE-BCB6-F5E68987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来源：agent_runtime/mcp_chat_agent.py、token_budget.py、eeg_core/session.py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D45C5-7F11-448B-B284-5943867E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892569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0C6783-0FB2-491A-AED5-23E58804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05  工具调用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F614B-697D-45E8-B854-81B9E2C6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MCP 工具链与双重授权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C86A8-113F-4B93-A2A7-F4356784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49532-06F4-40E7-9C72-FFD2AB57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模型看见稳定 schema，运行时仍会在真正执行前做二次检查。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CF80D-ACC8-4892-BE04-9FD48100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3336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EB580-D14C-46CA-86C4-FC957550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C8310-C9EB-445A-898F-C729C926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952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固定展示所有运行时 Skill 所引用工具的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8FD7D-8663-494C-913F-80DDDFEF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276225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473AC-8B07-4659-8770-F791C75C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574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Agent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E747D-F6D2-4B78-8046-539984BA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667000"/>
            <a:ext cx="2381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解析 JSON 参数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校验 Skill allowlist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注入 session_id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6E031-7FBD-4C20-AF6D-88BCE7A1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86000"/>
            <a:ext cx="23336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39DA6-488B-45F3-9FE6-1CBB368F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47925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MCP Client Bridge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876A9-CA7A-4B1C-9EF8-4605FED0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952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持久 stdio 连接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同步接口桥接异步 event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C5F2B0-EA1A-41EB-A94B-79B3C1AA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286000"/>
            <a:ext cx="1381125" cy="13144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999AD-56FF-446A-A1B0-FAA6F131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44792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FastMCP Server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1C553-73FD-4EF0-A585-EEFABEEB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857500"/>
            <a:ext cx="10001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会话查找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领域函数执行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结构化结果</a:t>
            </a:r>
          </a:p>
        </p:txBody>
      </p: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81325" y="29432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B5CF6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515100" y="29432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D3EE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629775" y="29432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9E0B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4C0AE-9827-4994-A8C2-0D349573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08966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F32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2CCDE6-46BE-4FC7-9E8B-3720E3CD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关键工程处理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237337-DFC9-4D9A-BB94-3CE1C4BF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010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模型 schema 中删除 session_id，运行时绑定当前会话后自动注入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调用异常转成 ok=false、error_type、message、retryable，作为 tool 结果回传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700"/>
              </a:spcAft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事件检测结果先做代表性压缩，降低大规模事件列表对上下文的占用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EE997-9F70-473C-99DE-890EC660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来源：agent_runtime/mcp_client.py、mcp_chat_agent.py、mcp_server/server.py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248AF-4126-4EEC-BA37-5B9CE3A1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681945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EBCE01-FA19-42BD-8119-312DE62A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06  RAG 建库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0AD23-7F9C-4A47-8190-10BC8EE1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结构感知的父子分块与双索引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46597-F57B-4175-ADC3-915CA38B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D6691-609C-4769-9740-7F21DC29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建库优先保留标题层级、表格和页码，再为召回与上下文扩展分别设计粒度。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5A2F4-90C1-48E7-9A7F-D0674C8B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D0F31-4529-470F-8CDA-E029B3BC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知识文件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DE78F-DBE6-4EFE-A587-F10E464F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PDF、DOCX、MD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TXT、HTML、XHTML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C6D152-6479-418A-848F-8B76EFB2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92371-EA78-4F3A-8409-2100786B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Docling 解析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CD45B-11BF-4B98-A949-3521D930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OCR、表格结构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标题层级、页码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6D52E-43A4-4317-8AF9-F9F4B218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31805-B059-42D6-9932-8F671FF2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结构块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3DF35-F0CF-46C0-AB30-9B1A772B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heading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paragraph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list、table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4BF01-EDAC-4B9A-8B6B-B55AE346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7240B-362E-41B1-B38F-D0AB3181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父子分块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79349-0C99-43AB-AA5A-E7435004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Parent 保持章节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Child 面向召回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F7463-4402-4730-893E-A11B7581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67E8F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7010B1-C8B1-485D-88E1-67E2666B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BGE-M3 编码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7B15A-FCAD-4D08-AC16-4D7C2CB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向量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Sparse token 权重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40627E-F064-4214-8A4E-A2081B93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90750"/>
            <a:ext cx="1428750" cy="1619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263B"/>
          </a:solidFill>
          <a:ln xmlns:a="http://schemas.openxmlformats.org/drawingml/2006/main" w="14288">
            <a:solidFill>
              <a:srgbClr val="34D39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9F0DE2-1879-48F3-B469-CA33EE43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52675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索引落盘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5CBCB-EE3D-4EB6-97E7-6DCADA51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62250"/>
            <a:ext cx="104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FAISS Dense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Sparse 倒排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Parent / Child 元数据</a:t>
            </a:r>
          </a:p>
        </p:txBody>
      </p:sp>
      <p:cxnSp>
        <p:nvCxnSpPr>
          <p:cNvPr id="6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0764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4810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6197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39140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163050" y="30003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87A95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554D37-0CD6-4833-A2D0-CE7D68A5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896600" cy="13335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B1E31"/>
          </a:solidFill>
          <a:ln xmlns:a="http://schemas.openxmlformats.org/drawingml/2006/main" w="9525">
            <a:solidFill>
              <a:srgbClr val="29465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1FCA99-B839-43A2-9F56-1208D65E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分块参数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32801C-7C91-4CEA-A48C-B2A56BA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720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Parent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800B90-3DA7-4D4F-9152-C9FD7B12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目标 900，最大 1400 tokens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1B1662-48FA-4119-AD4F-EBE86075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387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Child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CF06C3-E07D-4EEE-BA37-CB2889C4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38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目标 280，最大 400，重叠 50 tokens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650EE5-2A03-41F4-A7F2-50FFFD0D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增量重建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5A47E8-815A-4EEB-B80B-0386485AA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3667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registry 比较文件 mtime、size、解析与分块配置。版本变化自动全量重建。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6C7EBC-50BD-4E8F-AB2A-2EB21463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来源：RAG/docling_parser.py、chunker.py、indexer.py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C32DFE-C62D-4102-9024-F3DF7A2A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3409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8980BB-42DD-4F88-BEE3-D4E3A64E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07  RAG 检索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8877D-3F76-4FEB-8735-75C14C4D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策略路由、三路召回与重排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140EF-E056-4A51-916C-CA31C820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88A09-4706-4AAF-BEBC-8430E5F7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检索结果最多返回 3 个父块，并在当前用户消息中临时注入。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81F83-CAE1-49F0-9DAA-CA9A668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38350"/>
            <a:ext cx="10572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337A2-BD72-4D70-A65B-DA5A8593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1336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检索策略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CA389-2208-41DF-AED8-D6040561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33600"/>
            <a:ext cx="871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知识问题直接检索。记录特异性工具请求跳过。模糊问题先做 FAISS 探测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E606E-5C3A-4E47-B7F5-EEE0494B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95575"/>
            <a:ext cx="9429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67E8F9">
                <a:alpha val="6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B2636-ADD4-4DA5-B02B-A11F15E9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7908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双路召回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8ED48A-D2D0-4525-9597-4338627D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90825"/>
            <a:ext cx="7572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Top 20 + Sparse Top 20，RRF 权重 0.6 / 0.4，合并 Top 40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22EE0-6A8B-4744-8A0B-F9E5A45D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52800"/>
            <a:ext cx="8286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01ACB-44DB-4159-9C06-62E91250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448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三路融合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6D602E-77D4-4D25-8C7F-DB011923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48050"/>
            <a:ext cx="642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Dense 0.35 + Sparse 0.20 + ColBERT 0.45，保留 Top 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B0A1D-AA1D-415A-81BE-6A229273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10025"/>
            <a:ext cx="7143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FF63F-3BBC-402C-A472-2D375D91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052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Cross Encoder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DD11AC-64EE-40C5-A6C2-70D68973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05275"/>
            <a:ext cx="528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bge-reranker-v2-m3 计算 query-passage 相关度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93297-3F1B-49A5-88F0-658618FB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67250"/>
            <a:ext cx="6000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A4CA2-2CF2-45E8-9838-729D13BA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762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最终评分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03E9E7-074E-4C5A-A17B-3A0C3800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62500"/>
            <a:ext cx="414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0.2 × coarse_normalized + 0.8 × rerank_score，默认阈值 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CA058D-82AE-446A-AB3F-D4A688C3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324475"/>
            <a:ext cx="4857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0D2337"/>
          </a:solidFill>
          <a:ln xmlns:a="http://schemas.openxmlformats.org/drawingml/2006/main" w="9525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4F69C2-3441-4339-8C9C-76C670DF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4197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上下文扩展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7E0F82-0E8E-4C57-A708-FD3DAE13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19725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按 parent 去重，补充命中 child 的前后相邻块，最终 Top 0 至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08FF65-787A-414B-B475-EA3C789B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隔离原则：检索片段只服务本轮知识回答，工具结果才形成患者特异性证据。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9ECA9C-1D58-4D35-AD58-54608E4A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来源：RAG/retrieval_policy.py、retriever.py、ranking.py、searcher.py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F9240B-9523-4E53-9963-CA059FED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819485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DEED2E-8B27-49FB-97D9-FE20BEC3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08  端到端示例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C1D50-495A-4138-B5D1-07F6179D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一次事件筛查请求的执行轨迹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8584C-AE38-4873-A382-096CC016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F75C7-79A3-42B5-9CBC-A988AAA6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示例问题：前一分钟是否存在癫痫样放电？如果有，出现在哪些导联？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6F42F-D6D8-444B-9FBF-7D13B5CB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285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2AC36-9C1C-4610-BE02-A1871618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668CF-1C0C-4A68-9FEB-FD1DAAC5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0383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07BF8-C98A-4930-B063-97F5AE37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0383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规划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E7644-7F4B-4F02-ABA1-1E198338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383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关键词命中 detection，加载 allowed_tools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60174-8E94-4A9C-A5C0-70C7E57F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765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1A6DB-2893-4EB4-B04B-68323416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5908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AB710-84DF-4AA9-BAF8-A2CD19E1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908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检索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87065-ED50-42A1-8D83-8749CF04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908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识别为记录特异性请求，本轮跳过 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8AA353-E86E-4F92-969B-79D427EC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E8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F7F92-F15E-4093-BC05-4B354FB6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43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8270C-C9F7-40C7-8837-838B6A12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432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模型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1041C-B811-4762-A2CF-4F5E9E55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432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记录时长未知时，先请求 get_eeg_basic_information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9F005-DB8C-49A1-BD62-C709CA0B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81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FFE424-8E7C-4B96-83E4-61471C8E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957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4B0DA-6F20-4F29-A1DC-23F8432D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6957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执行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78C3A-7F05-4F40-85B9-4CF2B1A2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957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运行时注入 session_id，经 MCP 获取记录范围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5ADC0-0972-41A7-AD0B-80DA2EC9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33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F749E8-EBDE-436B-AD11-0A196CBC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248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8B5CF6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C7BDE-F54D-4AE8-8A18-BDA08406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2481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BEF354-6899-4EFE-B505-C391C9BD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481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构造 detect_eeg_events，窗口 0 至 60 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AD3C40-7857-4CBC-BB84-DB7F1E46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86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D39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1ACC94-4560-4199-A07E-BE6818C1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006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70D61C-BAE0-404B-B262-A29CDCD2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0060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记忆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A2B48C-2F6D-447F-ADEE-1DC00FFE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0060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把事件数量、时间、导联、脑区和置信度写入摘要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18C580-F345-49FD-BCAA-1E9119E8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387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718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886067-DD5E-4778-9EEC-72B877BC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3530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B7185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F91731-71B2-46DA-84F9-D491A2E3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530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回答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8C469B-2C5A-4DC1-984B-4B3885A8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53050"/>
            <a:ext cx="7762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只引用工具证据，并说明需要专业人员复核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8B92CD-B8E0-4B3C-956A-1243ECD9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91200"/>
            <a:ext cx="4400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263A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1CDAEE-41BD-4F03-9D83-7B9EFEB2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8864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1">
                <a:solidFill>
                  <a:srgbClr val="67E8F9"/>
                </a:solidFill>
                <a:latin typeface="Noto Sans SC"/>
                <a:ea typeface="Noto Sans SC"/>
                <a:cs typeface="Noto Sans SC"/>
              </a:rPr>
              <a:t>可观测性：路由分数、工具耗时、上下文占用、缓存命中率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AA67DD-10B4-43A1-B3E3-25E522AD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来源：agent_runtime/mcp_chat_agent.py、detection Skill、mcp_server/server.py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2ABE0C-7000-4F61-9286-0A036FA8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53319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1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E4D6D-D698-4233-AC62-C0EA7C77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09  工程总结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F3F521-18A2-49F1-B7B7-E14C6D21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3150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当前实现与演进方向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63C73-198C-4A5F-83A9-BBF2F323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7635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65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E0F19-095B-4C47-A75A-7FA02E72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面试中需要同时说明已经落地的能力，以及下一阶段可以怎样扩展。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FC27D-A917-45A1-80E1-335773E1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38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34D399"/>
                </a:solidFill>
                <a:latin typeface="Noto Sans SC"/>
                <a:ea typeface="Noto Sans SC"/>
                <a:cs typeface="Noto Sans SC"/>
              </a:rPr>
              <a:t>当前实现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5456E-13E3-45CF-BF2F-A5D0D949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确定性关键词与本地语义路由结合，低置信度安全降级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Skill 指令按轮次隔离，执行前强制校验工具权限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三层记忆配合 token 预算，RAG 只在当前轮临时注入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MCP 解耦 Agent 与 EEG 算法，并提供完整执行轨迹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35338-68CC-4019-A49F-1A620BF9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383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演进方向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E6D63-79C6-44CB-AEBD-007A0CEE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增加显式任务图，让复杂问题拆成可检查的多 Skill 子计划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把关键事件与报告写入可持久化记忆，并设计版本与权限策略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建立路由准确率、工具成功率、引用正确性与临床复核指标</a:t>
            </a:r>
          </a:p>
          <a:p xmlns:a="http://schemas.openxmlformats.org/drawingml/2006/main">
            <a:pPr marL="228600" indent="-114300" algn="l">
              <a:lnSpc>
                <a:spcPct val="115000"/>
              </a:lnSpc>
              <a:spcAft>
                <a:spcPts val="1200"/>
              </a:spcAft>
              <a:buNone/>
              <a:def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E6EEF7"/>
                </a:solidFill>
                <a:latin typeface="Noto Sans SC"/>
                <a:ea typeface="Noto Sans SC"/>
                <a:cs typeface="Noto Sans SC"/>
              </a:rPr>
              <a:t>对独立工具调用引入并行执行，同时保持会话状态一致性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D6E0C-67DC-4371-864E-D3AF96A2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610850" cy="685800"/>
          </a:xfrm>
          <a:prstGeom xmlns:a="http://schemas.openxmlformats.org/drawingml/2006/main" prst="roundRect">
            <a:avLst>
              <a:gd name="adj" fmla="val 25000"/>
            </a:avLst>
          </a:prstGeom>
          <a:gradFill xmlns:a="http://schemas.openxmlformats.org/drawingml/2006/main">
            <a:gsLst>
              <a:gs pos="0">
                <a:srgbClr val="0E2A42"/>
              </a:gs>
              <a:gs pos="100000">
                <a:srgbClr val="14274A"/>
              </a:gs>
            </a:gsLst>
            <a:lin ang="5400000"/>
          </a:gradFill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CE892-35E0-4DBC-B952-8E6F3585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22D3EE"/>
                </a:solidFill>
                <a:latin typeface="Noto Sans SC"/>
                <a:ea typeface="Noto Sans SC"/>
                <a:cs typeface="Noto Sans SC"/>
              </a:rPr>
              <a:t>面试总结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6D911-76DE-4A4D-A9CB-B9456B18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816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F7FAFC"/>
                </a:solidFill>
                <a:latin typeface="Noto Sans SC"/>
                <a:ea typeface="Noto Sans SC"/>
                <a:cs typeface="Noto Sans SC"/>
              </a:rPr>
              <a:t>EEGAgent 的技术重点是把 LLM 的灵活决策放进一个可控、可追踪、可扩展的领域运行时。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C4053-AF81-4743-A495-7D3C1F1D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86525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70849A"/>
                </a:solidFill>
                <a:latin typeface="Noto Sans SC"/>
                <a:ea typeface="Noto Sans SC"/>
                <a:cs typeface="Noto Sans SC"/>
              </a:rPr>
              <a:t>来源：当前仓库实现。演进方向为基于现状的设计建议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EE836-BB67-4224-B8DD-FA043CD4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4B5C7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193217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2026-09-06T15:12:41.7400000Z</dcterms:created>
  <dcterms:modified xsi:type="dcterms:W3CDTF">2026-09-06T15:12:41.7400000Z</dcterms:modified>
</coreProperties>
</file>