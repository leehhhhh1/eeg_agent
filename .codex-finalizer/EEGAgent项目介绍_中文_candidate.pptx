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1b41858de4cbf" /><Relationship Type="http://schemas.openxmlformats.org/officeDocument/2006/relationships/extended-properties" Target="/docProps/app.xml" Id="R394eca7790724a7c" /><Relationship Type="http://schemas.openxmlformats.org/officeDocument/2006/relationships/officeDocument" Target="/ppt/presentation.xml" Id="Rbce601278a63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9de69e5e63407f"/>
  </p:sldMasterIdLst>
  <p:notesMasterIdLst>
    <p:notesMasterId xmlns:r="http://schemas.openxmlformats.org/officeDocument/2006/relationships" r:id="Re6a0ce3d8e9b4b90"/>
  </p:notesMasterIdLst>
  <p:sldIdLst>
    <p:sldId xmlns:r="http://schemas.openxmlformats.org/officeDocument/2006/relationships" id="256" r:id="Rb288aa3df93b411f"/>
    <p:sldId xmlns:r="http://schemas.openxmlformats.org/officeDocument/2006/relationships" id="257" r:id="R861e01220118471c"/>
    <p:sldId xmlns:r="http://schemas.openxmlformats.org/officeDocument/2006/relationships" id="258" r:id="R57e8071915d440d2"/>
    <p:sldId xmlns:r="http://schemas.openxmlformats.org/officeDocument/2006/relationships" id="259" r:id="R7283e982867c417d"/>
    <p:sldId xmlns:r="http://schemas.openxmlformats.org/officeDocument/2006/relationships" id="260" r:id="R9cf36d3fc9834f32"/>
    <p:sldId xmlns:r="http://schemas.openxmlformats.org/officeDocument/2006/relationships" id="261" r:id="R691cfce296b54449"/>
    <p:sldId xmlns:r="http://schemas.openxmlformats.org/officeDocument/2006/relationships" id="262" r:id="Rd23bc5ab3bca4450"/>
    <p:sldId xmlns:r="http://schemas.openxmlformats.org/officeDocument/2006/relationships" id="263" r:id="R66fd63e8fabc4e43"/>
    <p:sldId xmlns:r="http://schemas.openxmlformats.org/officeDocument/2006/relationships" id="264" r:id="R7b8cdda751324829"/>
    <p:sldId xmlns:r="http://schemas.openxmlformats.org/officeDocument/2006/relationships" id="265" r:id="R4cab480594bd42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20d21f16d4c1d" /><Relationship Type="http://schemas.openxmlformats.org/officeDocument/2006/relationships/slideMaster" Target="/ppt/slideMasters/slideMaster1.xml" Id="Rb59de69e5e63407f" /><Relationship Type="http://schemas.openxmlformats.org/officeDocument/2006/relationships/notesMaster" Target="/ppt/notesMasters/notesMaster1.xml" Id="Re6a0ce3d8e9b4b90" /><Relationship Type="http://schemas.openxmlformats.org/officeDocument/2006/relationships/presProps" Target="/ppt/presProps.xml" Id="R6e87ab8f5e614a0b" /><Relationship Type="http://schemas.openxmlformats.org/officeDocument/2006/relationships/tableStyles" Target="/ppt/tableStyles.xml" Id="R3374dcf7a27e4080" /><Relationship Type="http://schemas.openxmlformats.org/officeDocument/2006/relationships/slide" Target="/ppt/slides/slide1.xml" Id="Rb288aa3df93b411f" /><Relationship Type="http://schemas.openxmlformats.org/officeDocument/2006/relationships/slide" Target="/ppt/slides/slide2.xml" Id="R861e01220118471c" /><Relationship Type="http://schemas.openxmlformats.org/officeDocument/2006/relationships/slide" Target="/ppt/slides/slide3.xml" Id="R57e8071915d440d2" /><Relationship Type="http://schemas.openxmlformats.org/officeDocument/2006/relationships/slide" Target="/ppt/slides/slide4.xml" Id="R7283e982867c417d" /><Relationship Type="http://schemas.openxmlformats.org/officeDocument/2006/relationships/slide" Target="/ppt/slides/slide5.xml" Id="R9cf36d3fc9834f32" /><Relationship Type="http://schemas.openxmlformats.org/officeDocument/2006/relationships/slide" Target="/ppt/slides/slide6.xml" Id="R691cfce296b54449" /><Relationship Type="http://schemas.openxmlformats.org/officeDocument/2006/relationships/slide" Target="/ppt/slides/slide7.xml" Id="Rd23bc5ab3bca4450" /><Relationship Type="http://schemas.openxmlformats.org/officeDocument/2006/relationships/slide" Target="/ppt/slides/slide8.xml" Id="R66fd63e8fabc4e43" /><Relationship Type="http://schemas.openxmlformats.org/officeDocument/2006/relationships/slide" Target="/ppt/slides/slide9.xml" Id="R7b8cdda751324829" /><Relationship Type="http://schemas.openxmlformats.org/officeDocument/2006/relationships/slide" Target="/ppt/slides/slide10.xml" Id="R4cab480594bd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abc890b5bb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90c93ed76438f" /><Relationship Type="http://schemas.openxmlformats.org/officeDocument/2006/relationships/notesMaster" Target="/ppt/notesMasters/notesMaster1.xml" Id="Ra45cea38910841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47446d8f14a38" /><Relationship Type="http://schemas.openxmlformats.org/officeDocument/2006/relationships/notesMaster" Target="/ppt/notesMasters/notesMaster1.xml" Id="Rf00bac9de96a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b8b54566e4a27" /><Relationship Type="http://schemas.openxmlformats.org/officeDocument/2006/relationships/notesMaster" Target="/ppt/notesMasters/notesMaster1.xml" Id="Re9e01fdea68c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08e60c232403f" /><Relationship Type="http://schemas.openxmlformats.org/officeDocument/2006/relationships/notesMaster" Target="/ppt/notesMasters/notesMaster1.xml" Id="R8e89d48876af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dfc1fec8744b25" /><Relationship Type="http://schemas.openxmlformats.org/officeDocument/2006/relationships/notesMaster" Target="/ppt/notesMasters/notesMaster1.xml" Id="R1abd9c95acdb41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3def8d9bb4e57" /><Relationship Type="http://schemas.openxmlformats.org/officeDocument/2006/relationships/notesMaster" Target="/ppt/notesMasters/notesMaster1.xml" Id="R34545fd2334e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a54607e834611" /><Relationship Type="http://schemas.openxmlformats.org/officeDocument/2006/relationships/notesMaster" Target="/ppt/notesMasters/notesMaster1.xml" Id="R9300661b36af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7f634cc414000" /><Relationship Type="http://schemas.openxmlformats.org/officeDocument/2006/relationships/notesMaster" Target="/ppt/notesMasters/notesMaster1.xml" Id="Rad0353acf1b947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7e14ac4f194805" /><Relationship Type="http://schemas.openxmlformats.org/officeDocument/2006/relationships/notesMaster" Target="/ppt/notesMasters/notesMaster1.xml" Id="Re32ab51c779d40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62ddaeeea04bca" /><Relationship Type="http://schemas.openxmlformats.org/officeDocument/2006/relationships/notesMaster" Target="/ppt/notesMasters/notesMaster1.xml" Id="R9f1ae06b4638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本页概述 EEGAgent 的定位。</a:t>
            </a:r>
          </a:p>
          <a:p xmlns:a="http://schemas.openxmlformats.org/drawingml/2006/main">
            <a:r>
              <a:t>来源：项目 README.md；arXiv:2511.09947v2。</a:t>
            </a:r>
          </a:p>
          <a:p xmlns:a="http://schemas.openxmlformats.org/drawingml/2006/main">
            <a:r>
              <a:t>封面视觉由 OpenAI 图像生成工具创建，仅用于概念表达。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核心观点来自论文摘要：现有模型多面向单一任务，EEGAgent 使用 LLM 调度多个工具完成多任务、连续推理。</a:t>
            </a:r>
          </a:p>
          <a:p xmlns:a="http://schemas.openxmlformats.org/drawingml/2006/main">
            <a:r>
              <a:t>来源：https://arxiv.org/abs/2511.09947；项目 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能力对应 MCP 工具：get_eeg_basic_information、explore_eeg_segment、detect_eeg_events、generate_eeg_report。</a:t>
            </a:r>
          </a:p>
          <a:p xmlns:a="http://schemas.openxmlformats.org/drawingml/2006/main">
            <a:r>
              <a:t>来源：mcp_server/server.py；agent_runtime/skills/definitions/*/SKILL.md。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框架图直接取自项目仓库 framework.png，未改动内容。</a:t>
            </a:r>
          </a:p>
          <a:p xmlns:a="http://schemas.openxmlformats.org/drawingml/2006/main">
            <a:r>
              <a:t>图中展示环境信息、脑电知识库、智能体规划、工具箱、上下文和四类任务。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运行时先进行高精度关键词路由，再在无命中时使用本地 BGE-M3 做语义匹配。</a:t>
            </a:r>
          </a:p>
          <a:p xmlns:a="http://schemas.openxmlformats.org/drawingml/2006/main">
            <a:r>
              <a:t>选中的 Skill 声明 allowed_tools，运行时在执行前强制检查。</a:t>
            </a:r>
          </a:p>
          <a:p xmlns:a="http://schemas.openxmlformats.org/drawingml/2006/main">
            <a:r>
              <a:t>来源：README.md；agent_runtime/mcp_chat_agent.py；agent_runtime/mcp_client.py。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表中约束均来自运行时 Skill 定义。</a:t>
            </a:r>
          </a:p>
          <a:p xmlns:a="http://schemas.openxmlformats.org/drawingml/2006/main">
            <a:r>
              <a:t>片段探索窗口不超过 60 秒，事件检测窗口不超过 600 秒。</a:t>
            </a:r>
          </a:p>
          <a:p xmlns:a="http://schemas.openxmlformats.org/drawingml/2006/main">
            <a:r>
              <a:t>报告 Skill 不会静默执行检测或探索，只整理会话已有结果。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检索流程、召回数量、融合数量、公式与注入段数来自 README.md 的 RAG retrieval pipeline。</a:t>
            </a:r>
          </a:p>
          <a:p xmlns:a="http://schemas.openxmlformats.org/drawingml/2006/main">
            <a:r>
              <a:t>默认阈值：模糊问题 FAISS 探测 0.35，重排过滤 0.5；可通过环境变量调整。</a:t>
            </a:r>
          </a:p>
          <a:p xmlns:a="http://schemas.openxmlformats.org/drawingml/2006/main">
            <a:r>
              <a:t>检索文本只附加到当前用户消息，不进入系统提示，也不保留到后续轮次。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桌面端由 PySide6 构建。</a:t>
            </a:r>
          </a:p>
          <a:p xmlns:a="http://schemas.openxmlformats.org/drawingml/2006/main">
            <a:r>
              <a:t>源代码提供 EDF 文件选择、流式消息、工具状态、轨迹页、对话清空与导出等功能。</a:t>
            </a:r>
          </a:p>
          <a:p xmlns:a="http://schemas.openxmlformats.org/drawingml/2006/main">
            <a:r>
              <a:t>来源：desktop_app.py；trajectory_view.py。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论文摘要只说明在公开数据集上进行了评估，没有在 README 中提供具体数值。</a:t>
            </a:r>
          </a:p>
          <a:p xmlns:a="http://schemas.openxmlformats.org/drawingml/2006/main">
            <a:r>
              <a:t>MDD、Sleep、TUSL 三个评估方向来自仓库顶层评估脚本。</a:t>
            </a:r>
          </a:p>
          <a:p xmlns:a="http://schemas.openxmlformats.org/drawingml/2006/main">
            <a:r>
              <a:t>临床边界来自 detection、exploration、reporting 与 general_eeg Skill 的输出规则。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快速启动命令与环境变量名称来自项目 README.md 和 main.py。</a:t>
            </a:r>
          </a:p>
          <a:p xmlns:a="http://schemas.openxmlformats.org/drawingml/2006/main">
            <a:r>
              <a:t>项目论文：https://arxiv.org/abs/2511.09947。</a:t>
            </a:r>
          </a:p>
          <a:p xmlns:a="http://schemas.openxmlformats.org/drawingml/2006/main">
            <a:r>
              <a:t>图像生成提示词：深色科学编辑风格，脑电波形与神经网络连接，左侧留出标题空间，无文字与标识。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7804d9435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c154c2201480e" /><Relationship Type="http://schemas.openxmlformats.org/officeDocument/2006/relationships/slideLayout" Target="/ppt/slideLayouts/slideLayout1.xml" Id="R4461d016400941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1d0164009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89dddb6e4b43" /><Relationship Type="http://schemas.openxmlformats.org/officeDocument/2006/relationships/image" Target="/ppt/media/image.png" Id="R165c7acf6c7044d4" /><Relationship Type="http://schemas.openxmlformats.org/officeDocument/2006/relationships/notesSlide" Target="/ppt/notesSlides/notesSlide1.xml" Id="R52cb37d9d89b46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17f2b5db4db2" /><Relationship Type="http://schemas.openxmlformats.org/officeDocument/2006/relationships/notesSlide" Target="/ppt/notesSlides/notesSlide2.xml" Id="R170b5675105e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53010b5454aec" /><Relationship Type="http://schemas.openxmlformats.org/officeDocument/2006/relationships/notesSlide" Target="/ppt/notesSlides/notesSlide3.xml" Id="R8f8086391727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2ee34a5c040fa" /><Relationship Type="http://schemas.openxmlformats.org/officeDocument/2006/relationships/image" Target="/ppt/media/image2.png" Id="Rb727966f0f2b4ba6" /><Relationship Type="http://schemas.openxmlformats.org/officeDocument/2006/relationships/notesSlide" Target="/ppt/notesSlides/notesSlide4.xml" Id="R621357eef0714c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ff21e43fc440c" /><Relationship Type="http://schemas.openxmlformats.org/officeDocument/2006/relationships/notesSlide" Target="/ppt/notesSlides/notesSlide5.xml" Id="R2f9cce7aeb99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2ded59c54528" /><Relationship Type="http://schemas.openxmlformats.org/officeDocument/2006/relationships/notesSlide" Target="/ppt/notesSlides/notesSlide6.xml" Id="R70122cb486b044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fd06c87a4901" /><Relationship Type="http://schemas.openxmlformats.org/officeDocument/2006/relationships/notesSlide" Target="/ppt/notesSlides/notesSlide7.xml" Id="Rb6fbb7647629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bf086f87e4c4f" /><Relationship Type="http://schemas.openxmlformats.org/officeDocument/2006/relationships/notesSlide" Target="/ppt/notesSlides/notesSlide8.xml" Id="Ra59ab20e90d14b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e6967807c4fcd" /><Relationship Type="http://schemas.openxmlformats.org/officeDocument/2006/relationships/notesSlide" Target="/ppt/notesSlides/notesSlide9.xml" Id="R280f2851f61243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7948ee4654803" /><Relationship Type="http://schemas.openxmlformats.org/officeDocument/2006/relationships/image" Target="/ppt/media/image3.png" Id="R1c602713a9944843" /><Relationship Type="http://schemas.openxmlformats.org/officeDocument/2006/relationships/notesSlide" Target="/ppt/notesSlides/notesSlide10.xml" Id="R840f9faf2cb7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c7acf6c7044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B80BE-CCB8-4123-BD6B-A38A272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7111F">
                  <a:alpha val="96000"/>
                </a:srgbClr>
              </a:gs>
              <a:gs pos="100000">
                <a:srgbClr val="07111F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744D7-875F-4ED1-A45F-C8D60AB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GENERAL-PURPOSE EEG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C2BF0-405A-4A09-9149-B89300B7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1E2D7-27D7-4A8D-B6D0-6C55AB3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面向脑电自动分析的大模型智能体框架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9A755-FA70-43E0-8475-776F372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从自然语言问题出发，调度脑电工具，保留分析轨迹，并生成结构化筛查结果。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2C6FF-B718-490C-AA4A-6DC9A409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E91A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E91A8"/>
                </a:solidFill>
                <a:latin typeface="Noto Sans SC"/>
                <a:ea typeface="Noto Sans SC"/>
                <a:cs typeface="Noto Sans SC"/>
              </a:rPr>
              <a:t>项目介绍  ·  2026</a:t>
            </a:r>
          </a:p>
        </p:txBody>
      </p:sp>
    </p:spTree>
    <p:extLst>
      <p:ext uri="{BB962C8B-B14F-4D97-AF65-F5344CB8AC3E}">
        <p14:creationId xmlns:p14="http://schemas.microsoft.com/office/powerpoint/2010/main" val="215877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F35E2-FAA2-4B18-A191-6B2C7BB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  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4888-585B-4BB0-87CE-05B6D21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为什么需要 EEGAgent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95FC9-95BF-4D6B-995C-E703C7C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5199D-97E8-4EC2-A84D-901DDBA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传统 EEG 模型通常围绕单一任务训练。真实分析却需要连续追问、跨任务判断与多轮工具调用。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10B09-2461-4570-A941-C35987D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44577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3A1D-9AB4-4C0C-B892-76C29AF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单任务模型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3DC9F-6E11-4755-A365-19008D8C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3638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2000"/>
              </a:lnSpc>
              <a:spcAft>
                <a:spcPts val="1000"/>
              </a:spcAft>
              <a:buNone/>
              <a:def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输入与输出形式固定</a:t>
            </a:r>
          </a:p>
          <a:p xmlns:a="http://schemas.openxmlformats.org/drawingml/2006/main">
            <a:pPr marL="228600" indent="-114300" algn="l">
              <a:lnSpc>
                <a:spcPct val="112000"/>
              </a:lnSpc>
              <a:spcAft>
                <a:spcPts val="1000"/>
              </a:spcAft>
              <a:buNone/>
              <a:def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任务切换依赖独立模型</a:t>
            </a:r>
          </a:p>
          <a:p xmlns:a="http://schemas.openxmlformats.org/drawingml/2006/main">
            <a:pPr marL="228600" indent="-114300" algn="l">
              <a:lnSpc>
                <a:spcPct val="112000"/>
              </a:lnSpc>
              <a:spcAft>
                <a:spcPts val="1000"/>
              </a:spcAft>
              <a:buNone/>
              <a:def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难以承接连续分析上下文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6FA9F-177E-4C7C-8142-90C6C28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115050" cy="2876550"/>
          </a:xfrm>
          <a:prstGeom xmlns:a="http://schemas.openxmlformats.org/drawingml/2006/main" prst="roundRect">
            <a:avLst>
              <a:gd name="adj" fmla="val 7947"/>
            </a:avLst>
          </a:prstGeom>
          <a:gradFill xmlns:a="http://schemas.openxmlformats.org/drawingml/2006/main">
            <a:gsLst>
              <a:gs pos="0">
                <a:srgbClr val="102942"/>
              </a:gs>
              <a:gs pos="100000">
                <a:srgbClr val="152651"/>
              </a:gs>
            </a:gsLst>
            <a:lin ang="8100000"/>
          </a:gradFill>
          <a:ln xmlns:a="http://schemas.openxmlformats.org/drawingml/2006/main" w="19050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25262-2E05-4D35-ABBB-BD50762A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432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EEGAgent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11402-D13A-423E-83A3-8B4A2AD4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大模型理解问题并规划下一步，工具完成信号处理与检测，运行时负责权限边界和会话状态。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F2BEA-A172-4DAF-AD37-CAF773C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958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结果以可解释的分析链路返回，而不是只给出一个分类标签。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779F1-9D5D-4D11-B5E7-D7033235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8545B-680D-444A-9D2E-509DCD2A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来源：README.md；arXiv:2511.09947v2</a:t>
            </a:r>
          </a:p>
        </p:txBody>
      </p:sp>
    </p:spTree>
    <p:extLst>
      <p:ext uri="{BB962C8B-B14F-4D97-AF65-F5344CB8AC3E}">
        <p14:creationId xmlns:p14="http://schemas.microsoft.com/office/powerpoint/2010/main" val="520326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B646A-1F33-4F2D-88B5-9842FF4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  功能概览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567A0-5FE5-47CC-8102-86E88C3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四类核心能力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93AA-81E6-4CE4-BC0C-F9A390D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314C3-87DF-4413-BAC4-146D162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A66C9-8052-4D29-A1AD-484D5256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基础感知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0F82-4B8A-4A0B-92D2-40018747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8DB2D-9422-4FDB-9CC3-C7ABFB4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读取记录时长、采样率、原始通道与可用蒙太奇。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ACF52-4AF7-411A-AA35-4B43F91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716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BB407-87F2-4974-8DFE-5AE0A41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BC875-38E4-4E59-9313-859C0E7F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8605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片段探索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04A8B-D90A-4A41-9794-69D51FAA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CBCA9-F7AA-4071-A6B0-41441AD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195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按时间窗查看背景节律、振幅、频谱、对称性与异常筛查特征。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4DB06-F255-47BB-ADE7-F1B0D3B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A27E8-A795-4E33-996D-CB2B9AD3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308DD-3C57-4DD0-A51D-818F724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事件检测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663FF-D407-410B-8036-BCDC038E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BAEAD-482C-4DA3-859D-9C32B7A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筛查发作样活动与癫痫样放电，返回时间、导联和脑区证据。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E5591-FD30-4CB4-A0AE-0A0C54F6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716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4056B-342A-4FAB-B517-0EFD158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097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BFE85-F15D-4D10-828D-6050AF3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8605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报告生成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6F0CC-3E40-4F04-828B-4D081282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691B1-8F14-4A09-AE80-36A076E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19500"/>
            <a:ext cx="209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汇总当前会话中已保存的分析结果，生成结构化筛查草稿。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E4AF4-DB93-4D4F-87C6-A40CE160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所有患者特异性结论都必须来自工具返回值，并由专业人员复核原始脑电图。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5566A-3E53-4B46-85BF-0A6CE16C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F6DCA-27B8-4B3B-9DE3-D02D3C9F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来源：mcp_server/server.py；agent_runtime/skills/definitions</a:t>
            </a:r>
          </a:p>
        </p:txBody>
      </p:sp>
    </p:spTree>
    <p:extLst>
      <p:ext uri="{BB962C8B-B14F-4D97-AF65-F5344CB8AC3E}">
        <p14:creationId xmlns:p14="http://schemas.microsoft.com/office/powerpoint/2010/main" val="777706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04B09-FAE8-4F90-A059-0658A373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03  系统设计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AA1F7-9408-4BBD-87FE-0833B50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05629-6ABF-4476-8194-8BCE5304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AAD13-6118-43E7-89B8-8E138C4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问题驱动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BDA16-4256-4ED0-8D63-1C42C32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61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用户用自然语言描述任务，智能体结合上下文进行规划。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3D1A-F6C6-4EFA-8E02-E1D8285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工具执行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9D596-5739-4509-9DCE-C1535F9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61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预处理、特征提取与检测模型提供可调用的分析能力。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C336B-4DC2-4961-93F3-942BFD8D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57350"/>
            <a:ext cx="9029700" cy="4581525"/>
          </a:xfrm>
          <a:prstGeom xmlns:a="http://schemas.openxmlformats.org/drawingml/2006/main" prst="roundRect">
            <a:avLst>
              <a:gd name="adj" fmla="val 2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7966f0f2b4ba6"/>
          <a:stretch xmlns:a="http://schemas.openxmlformats.org/drawingml/2006/main"/>
        </p:blipFill>
        <p:spPr>
          <a:xfrm xmlns:a="http://schemas.openxmlformats.org/drawingml/2006/main">
            <a:off x="3185583" y="1790700"/>
            <a:ext cx="7687733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6B65C-D42A-44F6-9875-BBD6706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65AC4-BFB7-44DF-B837-AA0CCAA1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图源：项目 framework.png</a:t>
            </a:r>
          </a:p>
        </p:txBody>
      </p:sp>
    </p:spTree>
    <p:extLst>
      <p:ext uri="{BB962C8B-B14F-4D97-AF65-F5344CB8AC3E}">
        <p14:creationId xmlns:p14="http://schemas.microsoft.com/office/powerpoint/2010/main" val="1284575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4EA22-6583-41A8-9745-DAADE2E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04  运行时链路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E0568-5A2E-42A3-BF62-752C3EF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一次请求如何完成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0F56F-423D-408E-B86B-1A0DB81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A55F4-F2DF-4268-A582-AAE9AE9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桌面端把自然语言请求转换为受约束的脑电工具调用，并把结果写回同一会话。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4A6D4-9D40-436B-A3FD-E9DAB03F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4280-ACA1-409B-910B-490659D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9BB23-CBA6-40F9-B914-517C098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用户问题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9B49E-DCCB-47D0-A1DE-10FA9C4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任务与时间窗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8885C-ED5F-43D2-92A1-73B83DC4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71D25-7FF1-4FD3-8045-3CD9539C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FE088-EC94-4731-8181-0A1D9138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Skill 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6416C-8A5C-43C3-9641-65CCB128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关键词或语义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C2440-C957-4839-9DDB-A72A20F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CD8B9-AD81-46D4-BBDC-9CAFF83B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AE200-84F0-45DB-8B15-A6827065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权限收敛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0AFDE-B80D-4407-BCFE-463C686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allowed_tools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4EF5A-91F4-45D4-A0A3-F8F52A5D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8AF58-D6EC-49D1-BCDB-D2101EE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C0556-AD58-43A6-B60D-272E922B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EA811-CDDA-4BEB-B93B-E6EB02F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分析与检测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D2343-7DBC-41BD-810E-ADE2CC2F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E3C54-DBD4-45CA-927A-BC4E83E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17084-3DE0-40BE-8FE1-D650A12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会话状态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1354A-95E1-4C78-BC8D-EC9EFF7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保存结果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64A1D-B7C3-495C-91AF-BB16794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71750"/>
            <a:ext cx="1466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62DDB-3AA6-4B25-A1DC-E50C8E0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9C9F3-223E-40DD-A752-B1EC878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4325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可见回答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8278E-1422-4371-93F6-03A9A828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81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证据与限制</a:t>
            </a:r>
          </a:p>
        </p:txBody>
      </p:sp>
      <p:cxnSp>
        <p:nvCxnSpPr>
          <p:cNvPr id="6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14550" y="32766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18F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00500" y="32766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18F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86450" y="32766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18F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72400" y="32766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18F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658350" y="32766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18F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D221D7-9450-41AD-B796-B2D2C66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D31"/>
          </a:solidFill>
          <a:ln xmlns:a="http://schemas.openxmlformats.org/drawingml/2006/main" w="9525">
            <a:solidFill>
              <a:srgbClr val="2843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AE84A-0A2E-4623-AF7B-0940E23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会话级约束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07CA79-CB53-4454-A518-6884CA4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768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只有加载 EDF 并建立会话后，专用 EEG Skill 与工具才会启用。运行时拒绝调用当前 Skill 未授权的工具。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FA94D-5617-4DBD-91D2-21FFD0C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27834-76AE-4CAF-966A-C9468926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来源：README.md；agent_runtime/mcp_chat_agent.py；mcp_client.py</a:t>
            </a:r>
          </a:p>
        </p:txBody>
      </p:sp>
    </p:spTree>
    <p:extLst>
      <p:ext uri="{BB962C8B-B14F-4D97-AF65-F5344CB8AC3E}">
        <p14:creationId xmlns:p14="http://schemas.microsoft.com/office/powerpoint/2010/main" val="303260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BEA409-9FBE-49E3-915C-BBB11B2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05  可控调用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30E70-EEBB-4CC7-ADBE-CDAEA5A7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Skill 把分析目标变成工具边界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7EE62-37C1-4E7A-AE20-A538D44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55874-6666-40DC-BC0C-DF6C169F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每个 Skill 同时定义触发条件、处理流程、允许工具和输出规则。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9EEDD-31D7-406C-A9A8-E8C8066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20367-E760-4F1A-B387-8BC1F76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执行约束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08BEA-B86E-44E9-A055-525459F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允许调用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B498C-7DFA-4762-8FD8-7FCF3EFB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8966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C1D3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A2463-8150-4F98-9A21-83C8B598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17137-919D-421C-9D82-F935071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基础信息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8502-F429-4EF4-A772-4FE4FE79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读取元数据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154CE-DCA5-4B2E-A322-33B3FB9C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get_eeg_basic_information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030C0-46A8-48FB-A3CB-1910C5E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08966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A19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6C060-89C7-427B-AABF-9A1B14A2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88FBD-9D74-4752-9FAD-EE6AAD1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片段探索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E009B-D260-4B4E-9999-9E5AAD4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最长 60 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9D232-B61F-4B5B-8F16-FEAF5B1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basic_information + explore_eeg_segment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E3FFF-F369-4E1D-AA96-E40D8C7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966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C1D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37FFE-5CF8-48A6-972A-3494EFA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14CC8-E744-4403-9B83-BEA0D74E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事件检测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26A92-3175-4CCB-9B65-7E646A2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0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最长 600 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2C0DC-4602-443D-9DD6-D3F09FA2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basic_information + detect_eeg_events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1B7D6-1FDD-4C1F-9722-42176BBD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8966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A19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D9790-C5C9-48B3-9964-86F5B28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10D75-AC15-49AA-B28D-3028DD47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报告生成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60E5D-014B-45EF-AEAE-E877CB1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86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只汇总已有结果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134D2-49E3-432A-966C-BBB6EB7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basic_information + generate_eeg_report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789C7-FE2B-43AA-A8A9-4D2E1B8A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一般脑电问题进入受限的 general_eeg。没有会话证据时，系统不得声称患者特异性发现。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2FDF6-1FC5-4AA0-A00B-0578538C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AA993-AFC0-4ACA-87D1-7FE2ADCB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来源：agent_runtime/skills/definitions/*/SKILL.md</a:t>
            </a:r>
          </a:p>
        </p:txBody>
      </p:sp>
    </p:spTree>
    <p:extLst>
      <p:ext uri="{BB962C8B-B14F-4D97-AF65-F5344CB8AC3E}">
        <p14:creationId xmlns:p14="http://schemas.microsoft.com/office/powerpoint/2010/main" val="873971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EB434-0F0E-40EF-BD06-35C22C7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06  知识检索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8BA96-5E72-40A6-9D40-5919037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本地 RAG 如何补充脑电知识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7FAE8-F308-40B2-9D0C-AD9E147A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3ACB-8A31-4592-9FD7-3AD2B56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知识问题进入两阶段检索。记录特异性工具请求会跳过 RAG，避免把通用资料混入患者证据。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6F4A8-C7ED-40E1-BF8A-BA41AC13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90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2A42"/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39DE1-D62A-4EAA-989B-76DFFE2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策略判断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41571-F9D8-429D-B1B4-D6A706EF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71725"/>
            <a:ext cx="804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跳过、直接检索或 FAISS 探测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259F4-775F-4AFE-870D-13C79ADE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8763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D2338"/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03189-D4D6-43FA-BE51-A2171CD4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62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双路召回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B598B-493F-4F5A-B8B1-469931F5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Dense 与 Sparse 各召回 20 个子块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7796D-7545-4481-B982-FFFF5D66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67100"/>
            <a:ext cx="7620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2A42"/>
          </a:solidFill>
          <a:ln xmlns:a="http://schemas.openxmlformats.org/drawingml/2006/main" w="9525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31FD7-AFD0-43E9-9CE2-A2C7BBEE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52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5F176-CA62-4E80-90DA-432F6D8A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52825"/>
            <a:ext cx="576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加入 ColBERT，保留前 15 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A1446-552D-460C-8625-7B6C77F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6477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D2338"/>
          </a:solidFill>
          <a:ln xmlns:a="http://schemas.openxmlformats.org/drawingml/2006/main" w="9525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E2155-7F52-4A97-98FF-C864475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43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重排过滤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476B2-6855-4E24-AB70-70E78E67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bge-reranker-v2-m3 按阈值筛选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A2773-2AE4-4291-A54B-71D0178C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5334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2A42"/>
          </a:solidFill>
          <a:ln xmlns:a="http://schemas.openxmlformats.org/drawingml/2006/main"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0CB56-29E0-40C1-BB0A-EB5E925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33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邻接扩展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0AD43-663E-4E59-90AF-B516512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3392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按父块去重并补充相邻子块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5CE3D-E383-4D84-8211-0EB62EE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D2338"/>
          </a:solidFill>
          <a:ln xmlns:a="http://schemas.openxmlformats.org/drawingml/2006/main" w="9525">
            <a:solidFill>
              <a:srgbClr val="67E8F9">
                <a:alpha val="5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C11CA-A502-423A-800A-A5F48074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24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临时注入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21F63-4B37-45FF-9FF8-534FF8EF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4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仅给当前问题附加 0 至 3 段资料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1B1C8-E6A5-493C-8E90-CC34356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483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最终评分  0.2 × 归一化融合分数 + 0.8 × 重排分数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D35B7-970F-4C69-A39B-75292601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4F705-C9AD-4A94-B8A0-8A50837A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来源：README.md；RAG/retriever.py；retrieval_policy.py</a:t>
            </a:r>
          </a:p>
        </p:txBody>
      </p:sp>
    </p:spTree>
    <p:extLst>
      <p:ext uri="{BB962C8B-B14F-4D97-AF65-F5344CB8AC3E}">
        <p14:creationId xmlns:p14="http://schemas.microsoft.com/office/powerpoint/2010/main" val="1730252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799CF-4368-4187-9AE2-986A4BA0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07  人机协作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8AD0-3E66-407A-83F8-506421CD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桌面端使用体验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1BDF6-8321-48CF-9FEE-DBB0D6F0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83862-25D4-42EB-9C84-3CAB37D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用户围绕当前 EDF 记录持续提问，界面同时呈现回答、工具状态和分析轨迹。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21079-75F3-4F89-9595-BCAD94F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AED8-735A-4742-AC2A-7C833047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选择 EDF 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DF89-DE4D-424F-8487-7B40B5F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桌面端启动本地 MCP 服务并建立记录会话。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D25B3-06D2-47A4-A631-CF296D84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FE32E-3CFF-4848-9CF4-367134B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提出分析问题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11E42-572A-44D1-BCD3-A7A84933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支持直接对话，也支持指定时间窗、导联和分析目标。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586A1-0E59-4C41-A6B8-14533512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37B4-8360-48D6-8645-CE7A364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观察执行轨迹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1F951-7946-42D7-A7D5-AB03534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界面显示 Skill 路由、候选分数、允许工具与工具调用状态。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80B31-9650-4D62-88F1-C3407B22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353050" cy="3276600"/>
          </a:xfrm>
          <a:prstGeom xmlns:a="http://schemas.openxmlformats.org/drawingml/2006/main" prst="roundRect">
            <a:avLst>
              <a:gd name="adj" fmla="val 7558"/>
            </a:avLst>
          </a:prstGeom>
          <a:gradFill xmlns:a="http://schemas.openxmlformats.org/drawingml/2006/main">
            <a:gsLst>
              <a:gs pos="0">
                <a:srgbClr val="0E2A43"/>
              </a:gs>
              <a:gs pos="100000">
                <a:srgbClr val="151C38"/>
              </a:gs>
            </a:gsLst>
            <a:lin ang="8700000"/>
          </a:gradFill>
          <a:ln xmlns:a="http://schemas.openxmlformats.org/drawingml/2006/main" w="9525">
            <a:solidFill>
              <a:srgbClr val="2843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56107-8835-4296-9AF9-B33B9A4F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“先看前 30 秒的背景节律，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再检查是否存在左右不对称。”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45B14-ED18-4510-92E0-6D45435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20114-7A42-4321-9711-90927744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238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系统可流式返回文字，并在工具运行时更新状态。对话记录可以导出，移除数据后回到普通对话。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F6C6C-033A-41E3-BEAC-C107F2A3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3686E-94D7-4964-BF88-F105B765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来源：desktop_app.py；trajectory_view.py；README.md</a:t>
            </a:r>
          </a:p>
        </p:txBody>
      </p:sp>
    </p:spTree>
    <p:extLst>
      <p:ext uri="{BB962C8B-B14F-4D97-AF65-F5344CB8AC3E}">
        <p14:creationId xmlns:p14="http://schemas.microsoft.com/office/powerpoint/2010/main" val="18266768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1BCAB-FA79-40F4-A067-6DCA968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08  证据与限制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B2B5F-6093-4806-84D3-807D0C2D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评估方向与使用边界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7BD8D-3932-460C-B579-5D1B90C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CD0CD-7169-49DE-B9B2-FAB6653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仓库中的评估入口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6FA6-2DB7-4BB0-B5D6-DF1D9D3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MDD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94E14-97EA-489D-A442-35980680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764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抑郁相关 EEG 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E909E-8DFA-4CD4-84F3-D75B7EE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B2937-988D-44EF-BA6F-A3456F1B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Sleep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51334-09B9-47AF-8AA2-F302FCAE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90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睡眠分期任务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62504-857B-4A78-B47E-005D8678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E8D61-F84A-47A7-8DBC-553A5970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TUSL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7433-AEDB-477B-9ECB-A887B96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052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事件检测相关任务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9CF4A-F6A8-40C4-8FC8-B5090333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35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6E2C3-28BD-4941-85FA-47DD1CF3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论文摘要说明系统在公开数据集上完成能力评估。仓库 README 未提供可直接引用的量化结果，本介绍因此不添加性能数字。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32651-BF24-4A80-B951-C8FD386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6007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B8982-E913-48DC-B2B5-DEB53CAE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临床使用边界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DBC03-D173-4C9E-8837-257C0734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381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6000"/>
              </a:lnSpc>
              <a:spcAft>
                <a:spcPts val="1200"/>
              </a:spcAft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结果定位为自动化筛查发现或报告草稿</a:t>
            </a:r>
          </a:p>
          <a:p xmlns:a="http://schemas.openxmlformats.org/drawingml/2006/main">
            <a:pPr marL="228600" indent="-114300" algn="l">
              <a:lnSpc>
                <a:spcPct val="116000"/>
              </a:lnSpc>
              <a:spcAft>
                <a:spcPts val="1200"/>
              </a:spcAft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不得把统计探索直接解释为诊断结论</a:t>
            </a:r>
          </a:p>
          <a:p xmlns:a="http://schemas.openxmlformats.org/drawingml/2006/main">
            <a:pPr marL="228600" indent="-114300" algn="l">
              <a:lnSpc>
                <a:spcPct val="116000"/>
              </a:lnSpc>
              <a:spcAft>
                <a:spcPts val="1200"/>
              </a:spcAft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事件、导联、脑区与置信度必须来自工具输出</a:t>
            </a:r>
          </a:p>
          <a:p xmlns:a="http://schemas.openxmlformats.org/drawingml/2006/main">
            <a:pPr marL="228600" indent="-114300" algn="l">
              <a:lnSpc>
                <a:spcPct val="116000"/>
              </a:lnSpc>
              <a:spcAft>
                <a:spcPts val="1200"/>
              </a:spcAft>
              <a:buNone/>
              <a:def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专业人员仍需复核原始 EEG 及临床背景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21FF5-C885-4A92-BD26-3BF0006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8B7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63DF1-92AC-42EC-BAA0-93943552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1839A"/>
                </a:solidFill>
                <a:latin typeface="Noto Sans SC"/>
                <a:ea typeface="Noto Sans SC"/>
                <a:cs typeface="Noto Sans SC"/>
              </a:rPr>
              <a:t>来源：README.md；MDD_eval.py；Sleep_eval.py；TUSL_eval.py；运行时 Skill</a:t>
            </a:r>
          </a:p>
        </p:txBody>
      </p:sp>
    </p:spTree>
    <p:extLst>
      <p:ext uri="{BB962C8B-B14F-4D97-AF65-F5344CB8AC3E}">
        <p14:creationId xmlns:p14="http://schemas.microsoft.com/office/powerpoint/2010/main" val="1268427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02713a99448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04FB9-7B1C-4D52-B1FA-B831DC9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75000">
                <a:srgbClr val="07111F">
                  <a:alpha val="97000"/>
                </a:srgbClr>
              </a:gs>
              <a:gs pos="100000">
                <a:srgbClr val="07111F">
                  <a:alpha val="4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5C763-E07A-4C9C-9485-6386997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快速启动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2DB94-CCF9-406C-9E91-693CD42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F031D-6BD7-4D31-9836-C1AF5A17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安装 requirements.txt 中的依赖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FFD8-2837-4266-B4FB-A9C4AD0C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69187-4B08-4286-8EF1-36F9B92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配置 DEEPSEEK_API_KEY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791BE-1B34-4E50-AEB4-A818AF3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EC8E1-00E9-4BCC-9D6C-CFE99A61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运行 desktop_app.py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51268-9583-4672-A7E4-FA5D7F9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52A90-8114-4827-9756-5DA0D6C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E7EEF7"/>
                </a:solidFill>
                <a:latin typeface="Noto Sans SC"/>
                <a:ea typeface="Noto Sans SC"/>
                <a:cs typeface="Noto Sans SC"/>
              </a:rPr>
              <a:t>选择 EDF 文件并开始提问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E74E0-F110-4B46-BA1B-13CF4C9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EEGAgent 的价值在于把多种 EEG 能力组织成可追踪、可约束、可扩展的分析过程。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47795-3CF4-4253-A6D8-723CD161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E91A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E91A8"/>
                </a:solidFill>
                <a:latin typeface="Noto Sans SC"/>
                <a:ea typeface="Noto Sans SC"/>
                <a:cs typeface="Noto Sans SC"/>
              </a:rPr>
              <a:t>论文：arXiv:2511.09947v2</a:t>
            </a:r>
          </a:p>
        </p:txBody>
      </p:sp>
    </p:spTree>
    <p:extLst>
      <p:ext uri="{BB962C8B-B14F-4D97-AF65-F5344CB8AC3E}">
        <p14:creationId xmlns:p14="http://schemas.microsoft.com/office/powerpoint/2010/main" val="1260241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2026-09-06T14:25:15.2460000Z</dcterms:created>
  <dcterms:modified xsi:type="dcterms:W3CDTF">2026-09-06T14:25:15.2460000Z</dcterms:modified>
</coreProperties>
</file>