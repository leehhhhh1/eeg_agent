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1e9c8cffbb4fae" /><Relationship Type="http://schemas.openxmlformats.org/officeDocument/2006/relationships/extended-properties" Target="/docProps/app.xml" Id="R7b48e14f56d04f55" /><Relationship Type="http://schemas.openxmlformats.org/officeDocument/2006/relationships/officeDocument" Target="/ppt/presentation.xml" Id="R0db97947267b45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6bcba9c5124566"/>
  </p:sldMasterIdLst>
  <p:notesMasterIdLst>
    <p:notesMasterId xmlns:r="http://schemas.openxmlformats.org/officeDocument/2006/relationships" r:id="R7d4cd8765267447b"/>
  </p:notesMasterIdLst>
  <p:sldIdLst>
    <p:sldId xmlns:r="http://schemas.openxmlformats.org/officeDocument/2006/relationships" id="256" r:id="R074ca8c7d3e944b7"/>
    <p:sldId xmlns:r="http://schemas.openxmlformats.org/officeDocument/2006/relationships" id="257" r:id="Rebb39edf8d6f457b"/>
    <p:sldId xmlns:r="http://schemas.openxmlformats.org/officeDocument/2006/relationships" id="258" r:id="Rdefe571903df4386"/>
    <p:sldId xmlns:r="http://schemas.openxmlformats.org/officeDocument/2006/relationships" id="259" r:id="R2e59953603884ec6"/>
    <p:sldId xmlns:r="http://schemas.openxmlformats.org/officeDocument/2006/relationships" id="260" r:id="Rc61fe4946dce4f98"/>
    <p:sldId xmlns:r="http://schemas.openxmlformats.org/officeDocument/2006/relationships" id="261" r:id="R6063d42a33ac491b"/>
    <p:sldId xmlns:r="http://schemas.openxmlformats.org/officeDocument/2006/relationships" id="262" r:id="Rc2ca9f2f8b0f4912"/>
    <p:sldId xmlns:r="http://schemas.openxmlformats.org/officeDocument/2006/relationships" id="263" r:id="R3e0d66ccefb24cf0"/>
    <p:sldId xmlns:r="http://schemas.openxmlformats.org/officeDocument/2006/relationships" id="264" r:id="R47e9dc5c66f94eff"/>
    <p:sldId xmlns:r="http://schemas.openxmlformats.org/officeDocument/2006/relationships" id="265" r:id="Rff1784a245e34b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bebd1758f74d3f" /><Relationship Type="http://schemas.openxmlformats.org/officeDocument/2006/relationships/slideMaster" Target="/ppt/slideMasters/slideMaster1.xml" Id="R706bcba9c5124566" /><Relationship Type="http://schemas.openxmlformats.org/officeDocument/2006/relationships/notesMaster" Target="/ppt/notesMasters/notesMaster1.xml" Id="R7d4cd8765267447b" /><Relationship Type="http://schemas.openxmlformats.org/officeDocument/2006/relationships/presProps" Target="/ppt/presProps.xml" Id="Rfe793731a2a54779" /><Relationship Type="http://schemas.openxmlformats.org/officeDocument/2006/relationships/tableStyles" Target="/ppt/tableStyles.xml" Id="Rdced39a5dc664b46" /><Relationship Type="http://schemas.openxmlformats.org/officeDocument/2006/relationships/slide" Target="/ppt/slides/slide1.xml" Id="R074ca8c7d3e944b7" /><Relationship Type="http://schemas.openxmlformats.org/officeDocument/2006/relationships/slide" Target="/ppt/slides/slide2.xml" Id="Rebb39edf8d6f457b" /><Relationship Type="http://schemas.openxmlformats.org/officeDocument/2006/relationships/slide" Target="/ppt/slides/slide3.xml" Id="Rdefe571903df4386" /><Relationship Type="http://schemas.openxmlformats.org/officeDocument/2006/relationships/slide" Target="/ppt/slides/slide4.xml" Id="R2e59953603884ec6" /><Relationship Type="http://schemas.openxmlformats.org/officeDocument/2006/relationships/slide" Target="/ppt/slides/slide5.xml" Id="Rc61fe4946dce4f98" /><Relationship Type="http://schemas.openxmlformats.org/officeDocument/2006/relationships/slide" Target="/ppt/slides/slide6.xml" Id="R6063d42a33ac491b" /><Relationship Type="http://schemas.openxmlformats.org/officeDocument/2006/relationships/slide" Target="/ppt/slides/slide7.xml" Id="Rc2ca9f2f8b0f4912" /><Relationship Type="http://schemas.openxmlformats.org/officeDocument/2006/relationships/slide" Target="/ppt/slides/slide8.xml" Id="R3e0d66ccefb24cf0" /><Relationship Type="http://schemas.openxmlformats.org/officeDocument/2006/relationships/slide" Target="/ppt/slides/slide9.xml" Id="R47e9dc5c66f94eff" /><Relationship Type="http://schemas.openxmlformats.org/officeDocument/2006/relationships/slide" Target="/ppt/slides/slide10.xml" Id="Rff1784a245e34b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b8ccefcb8b4f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b2669a7bbe4c45" /><Relationship Type="http://schemas.openxmlformats.org/officeDocument/2006/relationships/notesMaster" Target="/ppt/notesMasters/notesMaster1.xml" Id="R89b873effce44f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aabf06635a468a" /><Relationship Type="http://schemas.openxmlformats.org/officeDocument/2006/relationships/notesMaster" Target="/ppt/notesMasters/notesMaster1.xml" Id="R7bd91e78b0c14a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4212795dd345dc" /><Relationship Type="http://schemas.openxmlformats.org/officeDocument/2006/relationships/notesMaster" Target="/ppt/notesMasters/notesMaster1.xml" Id="R1a05d48925c440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d8a6c3c6ae4cf3" /><Relationship Type="http://schemas.openxmlformats.org/officeDocument/2006/relationships/notesMaster" Target="/ppt/notesMasters/notesMaster1.xml" Id="R47b86d62b1ff4a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455ab60e844b38" /><Relationship Type="http://schemas.openxmlformats.org/officeDocument/2006/relationships/notesMaster" Target="/ppt/notesMasters/notesMaster1.xml" Id="R4af62350350843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e9f3e4a33f4506" /><Relationship Type="http://schemas.openxmlformats.org/officeDocument/2006/relationships/notesMaster" Target="/ppt/notesMasters/notesMaster1.xml" Id="R44978c25d4c848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a50731874449ff" /><Relationship Type="http://schemas.openxmlformats.org/officeDocument/2006/relationships/notesMaster" Target="/ppt/notesMasters/notesMaster1.xml" Id="R9f2d5ddbc7ac47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3ae438119848f7" /><Relationship Type="http://schemas.openxmlformats.org/officeDocument/2006/relationships/notesMaster" Target="/ppt/notesMasters/notesMaster1.xml" Id="Rae981eb98d8646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2f52af6bd84117" /><Relationship Type="http://schemas.openxmlformats.org/officeDocument/2006/relationships/notesMaster" Target="/ppt/notesMasters/notesMaster1.xml" Id="R2c372b2dbaae48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9bef2e82ee43ba" /><Relationship Type="http://schemas.openxmlformats.org/officeDocument/2006/relationships/notesMaster" Target="/ppt/notesMasters/notesMaster1.xml" Id="Rb53dc2eea6c249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建议开场：EEGAgent 不是把 LLM 直接接到 EEG 数据，而是用运行时把规划、工具、记忆和知识检索拆成可控模块。</a:t>
            </a:r>
          </a:p>
          <a:p xmlns:a="http://schemas.openxmlformats.org/drawingml/2006/main">
            <a:r>
              <a:t>来源：README.md；agent_runtime；RAG；mcp_server。</a:t>
            </a:r>
          </a:p>
          <a:p xmlns:a="http://schemas.openxmlformats.org/drawingml/2006/main">
            <a:r>
              <a:t>封面视觉为项目已有生成资源，仅用于技术主题表达。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面试讲法：用分层先建立全局认知。规划、记忆、调用协议、领域能力和知识库各自可替换。</a:t>
            </a:r>
          </a:p>
          <a:p xmlns:a="http://schemas.openxmlformats.org/drawingml/2006/main">
            <a:r>
              <a:t>当前桌面端通过 stdio 启动本地 MCP 服务，Agent 通过 OpenAI 兼容接口调用 DeepSeek。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关键词路由适合高精度意图，命中后不再走语义选择。</a:t>
            </a:r>
          </a:p>
          <a:p xmlns:a="http://schemas.openxmlformats.org/drawingml/2006/main">
            <a:r>
              <a:t>语义路由使用本地 BGE-M3，默认专用阈值 0.65，候选分差 0.05，general_eeg 下限 0.45。</a:t>
            </a:r>
          </a:p>
          <a:p xmlns:a="http://schemas.openxmlformats.org/drawingml/2006/main">
            <a:r>
              <a:t>每个 Skill 的描述与多条 routing_examples 都参与编码，每个 Skill 取最相似两条的均值。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这是一个工程化 ReAct 循环：模型提出 action，MCP 返回 observation，模型继续决策。</a:t>
            </a:r>
          </a:p>
          <a:p xmlns:a="http://schemas.openxmlformats.org/drawingml/2006/main">
            <a:r>
              <a:t>运行时收集流式 reasoning_content 和 tool_call 增量，确保 DeepSeek 思考模式在后续工具轮次保持上下文连续。</a:t>
            </a:r>
          </a:p>
          <a:p xmlns:a="http://schemas.openxmlformats.org/drawingml/2006/main">
            <a:r>
              <a:t>MAX_TOOL_ROUNDS 为 8。错误会转为模型可见的结构化结果，不直接让整轮崩溃。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会话摘要不是让模型自由总结工具原始输出。代码只抽取白名单字段，避免把大 payload 长期保存。</a:t>
            </a:r>
          </a:p>
          <a:p xmlns:a="http://schemas.openxmlformats.org/drawingml/2006/main">
            <a:r>
              <a:t>历史压缩以完整 user turn 为单位，tool_calls 与对应 tool 消息保持原子性。</a:t>
            </a:r>
          </a:p>
          <a:p xmlns:a="http://schemas.openxmlformats.org/drawingml/2006/main">
            <a:r>
              <a:t>RAG 文本只临时注入当前 user message，模型返回后会替换回原问题，避免知识片段污染长期记忆。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双重授权包括 schema 暴露和执行前 allowlist 校验。当前实现为了保持提示词前缀稳定，模型在会话内看见固定工具 schema 联集。</a:t>
            </a:r>
          </a:p>
          <a:p xmlns:a="http://schemas.openxmlformats.org/drawingml/2006/main">
            <a:r>
              <a:t>真正调用时仍按当前 Skill 检查权限，所以 schema 稳定不会扩大执行能力。</a:t>
            </a:r>
          </a:p>
          <a:p xmlns:a="http://schemas.openxmlformats.org/drawingml/2006/main">
            <a:r>
              <a:t>MCPClientBridge 在后台线程维护异步 stdio 会话，对桌面端提供同步 list_tools 与 call_tool。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Parent 用于保存章节级上下文和来源元数据，Child 用于精细召回。</a:t>
            </a:r>
          </a:p>
          <a:p xmlns:a="http://schemas.openxmlformats.org/drawingml/2006/main">
            <a:r>
              <a:t>表格和列表按行拆分，普通段落按句子边界拆分；稳定 ID 使用 SHA-1 摘要。</a:t>
            </a:r>
          </a:p>
          <a:p xmlns:a="http://schemas.openxmlformats.org/drawingml/2006/main">
            <a:r>
              <a:t>FAISS 使用 IndexFlatIP，Sparse 使用 token_id 到文档权重的倒排表。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模糊问题先用 Dense Top-1 做 FAISS probe，默认阈值 0.35。</a:t>
            </a:r>
          </a:p>
          <a:p xmlns:a="http://schemas.openxmlformats.org/drawingml/2006/main">
            <a:r>
              <a:t>三路融合使用 rank 而不是直接混合原始分数，降低不同打分尺度造成的偏差。</a:t>
            </a:r>
          </a:p>
          <a:p xmlns:a="http://schemas.openxmlformats.org/drawingml/2006/main">
            <a:r>
              <a:t>reranker 输出 sigmoid 相关度，低于 0.5 的候选会被过滤，因此最终可能返回 0 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这个例子适合面试时按 Trace 顺序讲，能够把规划、RAG 策略、MCP、记忆和安全输出串起来。</a:t>
            </a:r>
          </a:p>
          <a:p xmlns:a="http://schemas.openxmlformats.org/drawingml/2006/main">
            <a:r>
              <a:t>detection Skill 规定窗口不超过 600 秒；本例使用 0 至 60 秒。</a:t>
            </a:r>
          </a:p>
          <a:p xmlns:a="http://schemas.openxmlformats.org/drawingml/2006/main">
            <a:r>
              <a:t>路由、RAG、模型请求、工具调用和 turn end 都会发出可视化 trace 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最后一页把技术亮点与不足同时讲清楚。右侧均为建议，不代表当前已经实现。</a:t>
            </a:r>
          </a:p>
          <a:p xmlns:a="http://schemas.openxmlformats.org/drawingml/2006/main">
            <a:r>
              <a:t>可根据应聘岗位调整重点：Agent 岗强调规划和记忆，平台岗强调 MCP 与可观测性，算法岗强调 RAG 与 EEG 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9ce0cdb9d649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bc47f1fa4e4bf6" /><Relationship Type="http://schemas.openxmlformats.org/officeDocument/2006/relationships/slideLayout" Target="/ppt/slideLayouts/slideLayout1.xml" Id="R901ed86c105e4e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1ed86c105e4e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791f4531647bb" /><Relationship Type="http://schemas.openxmlformats.org/officeDocument/2006/relationships/image" Target="/ppt/media/image.png" Id="R6da5607b933a46dd" /><Relationship Type="http://schemas.openxmlformats.org/officeDocument/2006/relationships/notesSlide" Target="/ppt/notesSlides/notesSlide1.xml" Id="R7c9e101f0d9d47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e45d1f7d4480a" /><Relationship Type="http://schemas.openxmlformats.org/officeDocument/2006/relationships/notesSlide" Target="/ppt/notesSlides/notesSlide2.xml" Id="R3ab1721cf39f4c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5d049a2ca4230" /><Relationship Type="http://schemas.openxmlformats.org/officeDocument/2006/relationships/notesSlide" Target="/ppt/notesSlides/notesSlide3.xml" Id="R4d54971c07a440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8129261ca48fd" /><Relationship Type="http://schemas.openxmlformats.org/officeDocument/2006/relationships/notesSlide" Target="/ppt/notesSlides/notesSlide4.xml" Id="R9f036d06129443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4b4c5dc8548e0" /><Relationship Type="http://schemas.openxmlformats.org/officeDocument/2006/relationships/notesSlide" Target="/ppt/notesSlides/notesSlide5.xml" Id="Raf4f081f33794e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3c9b3b2084835" /><Relationship Type="http://schemas.openxmlformats.org/officeDocument/2006/relationships/notesSlide" Target="/ppt/notesSlides/notesSlide6.xml" Id="Ra47056ad705b42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9854a3b0e4137" /><Relationship Type="http://schemas.openxmlformats.org/officeDocument/2006/relationships/notesSlide" Target="/ppt/notesSlides/notesSlide7.xml" Id="R31cc265e27fe49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7a830a00742f0" /><Relationship Type="http://schemas.openxmlformats.org/officeDocument/2006/relationships/notesSlide" Target="/ppt/notesSlides/notesSlide8.xml" Id="R1a9cc923c31541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a987cf4ec463d" /><Relationship Type="http://schemas.openxmlformats.org/officeDocument/2006/relationships/notesSlide" Target="/ppt/notesSlides/notesSlide9.xml" Id="Raf8ff8cb413248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326174d8d4b32" /><Relationship Type="http://schemas.openxmlformats.org/officeDocument/2006/relationships/notesSlide" Target="/ppt/notesSlides/notesSlide10.xml" Id="Raac549f9833a45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5607b933a46d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EBE11-2B38-43EF-BFB4-94C47AD4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11E"/>
              </a:gs>
              <a:gs pos="72000">
                <a:srgbClr val="06111E">
                  <a:alpha val="97000"/>
                </a:srgbClr>
              </a:gs>
              <a:gs pos="100000">
                <a:srgbClr val="06111E">
                  <a:alpha val="25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32413-45C8-47DC-8BF9-C57DBE2C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2476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4000"/>
            </a:srgbClr>
          </a:solidFill>
          <a:ln xmlns:a="http://schemas.openxmlformats.org/drawingml/2006/main" w="9525">
            <a:solidFill>
              <a:srgbClr val="22D3EE">
                <a:alpha val="5500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INTERVIEW TECHNICAL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F71D6-B691-4661-87FC-D895CB64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EEGAgent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3A356-F029-420B-981B-2C450F79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智能体技术架构与工程实现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C042E-4A3B-40D6-B171-9F83654B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规划机制、记忆模块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MCP 工具调用、RAG 建库与检索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0D94C-76F3-4B76-AA21-0627CB07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面试讲解版  10 页</a:t>
            </a:r>
          </a:p>
        </p:txBody>
      </p:sp>
    </p:spTree>
    <p:extLst>
      <p:ext uri="{BB962C8B-B14F-4D97-AF65-F5344CB8AC3E}">
        <p14:creationId xmlns:p14="http://schemas.microsoft.com/office/powerpoint/2010/main" val="830366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807B72-3DD3-47FA-90BF-CF1A894A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01  系统总览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FE511-9C21-451A-B42E-A30253B9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五层技术架构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AE39D-70F4-40AB-8261-8A87CECA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EC44C-4B05-46A8-BAB1-65B6AFBB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核心目标是让 LLM 负责决策，让确定性代码负责边界、执行和状态管理。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1E7DE-976C-460B-BA5D-E14B0B88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C2135"/>
          </a:solidFill>
          <a:ln xmlns:a="http://schemas.openxmlformats.org/drawingml/2006/main" w="9525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C99A9-9B81-4980-92A2-19B6671D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交互层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ECAD0-694E-426C-8995-1834F217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193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PySide6 桌面端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9F822-60ED-4E39-B011-61B9EAE1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193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EDF 选择、对话流、执行轨迹、取消与导出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C8B304-46E4-4F50-8A27-7251A50A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A1C2E"/>
          </a:solidFill>
          <a:ln xmlns:a="http://schemas.openxmlformats.org/drawingml/2006/main" w="9525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AFD31-CF2D-465D-AAC1-7DE45269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Agent 运行时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7317C-2FB5-4E1B-8236-D6D9661F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003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Planner + Memory + ReAct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4EC5F-88B1-4B07-B02D-D7198615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003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路由 Skill、管理上下文、驱动多轮工具调用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FEBBF-8A73-4109-AA1F-A9116F8A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C2135"/>
          </a:solidFill>
          <a:ln xmlns:a="http://schemas.openxmlformats.org/drawingml/2006/main" w="9525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5E800-70D0-42EA-A957-F4AA6D8E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协议层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E0FCB-086A-4EB1-A8E0-C01060E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81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MCP over stdio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02126-39D7-4EA2-BC3C-E3BE34DF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814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持久连接、工具发现、结构化调用与错误归一化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467FD-6690-4E94-B88B-4902B490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A1C2E"/>
          </a:solidFill>
          <a:ln xmlns:a="http://schemas.openxmlformats.org/drawingml/2006/main" w="9525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572F9-5066-40D6-819C-7C97E193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能力层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18FD36-4799-4DB1-953F-C2CB9CCF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624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EEG Tools + Session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6217A9-C4FC-4A77-A97F-C40C1CF1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624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基础信息、片段探索、事件检测、报告生成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9BDDF2-9BDC-446D-99B9-0238C4DA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C2135"/>
          </a:solidFill>
          <a:ln xmlns:a="http://schemas.openxmlformats.org/drawingml/2006/main" w="9525">
            <a:solidFill>
              <a:srgbClr val="67E8F9">
                <a:alpha val="7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07D1C-7016-417A-AC36-6AABB501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35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知识层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B1376B-163A-4C62-BA4D-5FFB4149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435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Local RAG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876B4A-0353-4392-81E6-BFD8B79D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3435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Docling 建库、BGE-M3 混合召回、重排与临时注入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7455A0-EE11-479C-B205-CE1EE727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来源：desktop_app.py；agent_runtime；mcp_server；eeg_core；RAG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1FEED-2475-4AB6-926E-3C9635D5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435014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5C3967-E980-4248-BF0A-D3E64EE7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02  规划机制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B570B-7B44-42B9-9E97-D4B9BE0C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两级 Skill 路由与安全降级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BB46E-12BB-44DF-B861-70FB65B4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80DDC-5B7E-46C0-9D6B-3E100231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规划首先确定本轮任务边界，再决定是否生成工具调用。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FCCEC-BD80-4067-8557-83DF4871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2381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387D0-CCB1-4F4A-AA87-9A81EE63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用户问题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919B3-742C-4D15-9BBC-EF3A3A0A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例如：检查前十分钟有没有癫痫样放电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F56F0-8942-43BF-9745-58F10588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24384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EB81B-107F-49EE-BCB3-36D6AA00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3837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关键词路由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1EE8E-8A80-431F-AFD3-467CEE63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479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统计命中数，再按 priority 与名称排序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20208-3016-4185-917B-0E0896D5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81400"/>
            <a:ext cx="24384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46C79-F003-4EAF-B105-B52A5DBF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433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语义路由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6A25E-8420-4868-A14E-592AD3F8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5290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BGE-M3 对描述和 routing_examples 编码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9BD75-9C9E-49BD-A635-D247915B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52625"/>
            <a:ext cx="23050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5B6BA-F498-48BC-BD3A-1101B140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145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专用 Skill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5D985-4164-4964-A8F8-F888DCF0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24125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top ≥ 0.65 且 margin ≥ 0.05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74EFD-2E98-4177-B301-EB98A593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57550"/>
            <a:ext cx="23050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3E0BE-49C4-4AC9-B705-E8D7CDC4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1947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general_eeg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8A06CF-D219-48C7-BF5C-5E65E39D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专用未通过，但 top ≥ 0.45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772CE1-D223-4AEA-ABBC-030752CA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23050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E36DF8-0F8C-4C1A-931F-F4B52D84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244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no_skill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D55C3F-ECB4-4629-B5C6-C454A217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33975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低置信度时禁用 EEG 工具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2F038A-F450-4C21-9ABE-96982A76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0375"/>
            <a:ext cx="19431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67E8F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DCA9A2-8781-4E40-B493-0AC90DFA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623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本轮计划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71CA45-ACBB-4FDB-AD5C-E05EEC98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71875"/>
            <a:ext cx="1562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Skill 指令 + allowed_tools + 输出规则</a:t>
            </a:r>
          </a:p>
        </p:txBody>
      </p:sp>
      <p:cxnSp>
        <p:nvCxnSpPr>
          <p:cNvPr id="6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28950" y="2638425"/>
            <a:ext cx="59055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D3EE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057900" y="2466975"/>
            <a:ext cx="64770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838700" y="32004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849A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EA8AD0-46E4-4F2A-955A-43D6FF5A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76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无命中</a:t>
            </a:r>
          </a:p>
        </p:txBody>
      </p:sp>
      <p:cxnSp>
        <p:nvCxnSpPr>
          <p:cNvPr id="6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057900" y="2466975"/>
            <a:ext cx="647700" cy="1676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6057900" y="3771900"/>
            <a:ext cx="647700" cy="371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1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057900" y="4143375"/>
            <a:ext cx="647700" cy="933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B7185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4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010650" y="2466975"/>
            <a:ext cx="590550" cy="1200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4D399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9010650" y="3667125"/>
            <a:ext cx="59055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9010650" y="3667125"/>
            <a:ext cx="590550" cy="1409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B7185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3FC066-E71F-427A-91FA-265735D9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语义分数取每个 Skill 最相似的 2 条样例均值，减少单条样例偶然命中。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230442-9258-48FD-9D07-ED537669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来源：agent_runtime/skills/selector.py；semantic_selector.py；registry.py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719B09-E709-4926-8EE4-567E580F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673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06F373-1D29-4422-BB11-F8A7EB6C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03  规划执行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229F8-BE85-47C4-A138-D4EFB833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受约束的流式 ReAct 循环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48609-5ED2-45B8-8D16-D4FDB379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A2CDE-0036-4971-B636-485911FF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模型可以连续调用工具，但运行时掌握会话、授权、终止条件和错误处理。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A490E-09F8-490A-AA6C-96FB040B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6C599-7E0C-4AD7-9057-07F90159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组织上下文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1CDBE-2C39-4944-A8A1-2C9AC904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系统指令、会话摘要、本轮 Skill、RAG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5FDC6-ABD5-4887-8BCF-8D3CBD25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5B5C1-FEA2-4BD2-BE08-FEF1AC7A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模型决策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7F24E-5EC6-4E9E-9847-01ECDE89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流式输出文本、推理内容与函数参数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B6E6F-F271-44BB-BD22-848F0B46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FD681-D31B-44E6-A5D4-709BB06D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解析 tool_calls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0F899-15EA-45C9-964C-D925E707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按 index 拼接增量参数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FDCD0-87FC-411D-9149-FF821037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E4FC8-3AF7-4C8A-A56B-FB99D665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运行时校验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F2E5D-378A-49D9-9986-CCF1A6AD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检查 session 与 allowed_tools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4C812-85C2-46A8-9928-B96DF0E3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33B445-3C46-4145-A3B7-3C9E0CBC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MCP 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3A7C49-9C96-451B-96A0-1F9796BA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自动注入 session_id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08620D-0867-4EA6-AE85-4B881980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A085B-4271-455A-B3D0-3BB79D55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写回结果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DAADB9-558F-4341-9E98-EA88D2EE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tool 消息进入下一轮模型请求</a:t>
            </a:r>
          </a:p>
        </p:txBody>
      </p:sp>
      <p:cxnSp>
        <p:nvCxnSpPr>
          <p:cNvPr id="56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336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005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8674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7343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6012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BCC282-C019-4F79-9CA3-AA560E91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8991600" cy="108585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0A1F32"/>
          </a:solidFill>
          <a:ln xmlns:a="http://schemas.openxmlformats.org/drawingml/2006/main" w="9525">
            <a:solidFill>
              <a:srgbClr val="2946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DC65BE-FB4E-4B20-B44C-7C75DEF8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196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继续循环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8CDBF8-1961-4E32-B660-DD810844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671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存在 tool_calls 时追加 assistant 与 tool 消息，再请求模型。没有工具调用时输出最终答案。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ED5217-29D0-4C9F-BE97-6959F0FC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149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硬上限：8 轮工具调用。达到上限后移除工具 schema，要求模型基于已有证据收敛。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C3D75C-129A-44D1-9A52-495939FC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来源：agent_runtime/mcp_chat_agent.py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BF5D88-B4EF-4377-B0FC-2041DECA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988048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3C3657-9955-4E58-AE94-448A4D05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04  记忆模块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F0701-078E-4419-83E5-88667D49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三层记忆与低频压缩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32E98-EFA3-4F0F-9835-AD0EFA7E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3E2F6-6600-4C79-B85A-DCEB2477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系统分别保存对话过程、稳定事实和 EEG 领域状态，避免把所有信息都塞进聊天历史。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5F97E-0753-42E6-835F-063C9587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8966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0D2236"/>
          </a:solidFill>
          <a:ln xmlns:a="http://schemas.openxmlformats.org/drawingml/2006/main" w="11430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0DE9A-A34C-4581-91D5-C6EBAEDB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短期对话记忆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C544A-415B-4FAC-9F71-CDBB07AB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messages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C6326-A591-4251-8BA0-4CA42A7E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95525"/>
            <a:ext cx="802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完整 user、assistant、tool 交换；保留 reasoning_content 供工具轮次续接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39E4A-42AE-457C-A118-F96E1EE7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108966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32444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3BE4F-7BA8-4C49-8315-1C68FBA7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结构化会话摘要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AC770-2A6F-487E-87FF-FB452DA3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session_summary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D059A-8F44-4012-9B98-BE94C12B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62325"/>
            <a:ext cx="802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recording、patient、analyses、findings、reports、conversation；每类最多 12 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B5399-6036-444C-8E3C-7E9D7A4B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108966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0D2236"/>
          </a:solidFill>
          <a:ln xmlns:a="http://schemas.openxmlformats.org/drawingml/2006/main" w="11430">
            <a:solidFill>
              <a:srgbClr val="34D39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464D8-9C75-4653-9CA6-0B88C45E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领域状态记忆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F5EDE-C226-4738-8482-32A53B30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529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EEGSession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7165DA-9802-4036-A706-57D6D704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29125"/>
            <a:ext cx="802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raw、processed_data、bipolar_channels、findings、reports；由 session_id 隔离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6C9EA-320C-44ED-9D58-B062B232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8966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B1B2C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12D070-5B62-4B1F-8A4B-69B4AC3F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压缩策略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F46E9F-D56D-4780-AF91-5286BE75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007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32K token 上限。达到 80% 后压缩最旧完整轮次，目标降到 55%。系统提示、会话摘要和最新轮次继续保留。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51230-D190-4B1F-AD93-609ADEFB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来源：agent_runtime/mcp_chat_agent.py；token_budget.py；eeg_core/session.py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F33D18-4136-4E38-A316-5946F990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33368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D291EA-060C-49D5-A533-48EBA578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05  工具调用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CE65A-18E2-4644-838C-84E6A64D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MCP 工具链与双重授权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BAB45-D032-4908-8EC6-BC65762A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53DC2-9427-4CF7-833D-A87C497F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模型看见稳定 schema，运行时仍会在真正执行前做二次检查。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D6F2A-75B0-49BC-A6F6-E6CAE4C0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333625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0600D-F592-49E8-99D8-C21A44A0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41DBE-3AEB-4E88-905E-F74B8EE6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952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固定展示所有运行时 Skill 所引用工具的 schema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7D4AF-4B0A-4D38-9E38-AE816F6F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95500"/>
            <a:ext cx="2762250" cy="1695450"/>
          </a:xfrm>
          <a:prstGeom xmlns:a="http://schemas.openxmlformats.org/drawingml/2006/main" prst="roundRect">
            <a:avLst>
              <a:gd name="adj" fmla="val 10112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7F3A7-4FB7-4922-8F7B-93DD3FCC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574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Agent Runtime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B5E7C-3E61-40C0-B46A-08A86E86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67000"/>
            <a:ext cx="2381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解析 JSON 参数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校验 Skill allowlist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注入 session_id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6843B-5D80-4FD9-960F-E7D1B37A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86000"/>
            <a:ext cx="2333625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C0E76-D5B6-4339-B3AC-A00E7B31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479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MCP Client Bridge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6858C-66EB-410F-AB0C-646DE93C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57500"/>
            <a:ext cx="1952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持久 stdio 连接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同步接口桥接异步 event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87A4C-DCAC-4C77-8B5C-9FA1B751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286000"/>
            <a:ext cx="1381125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E1BDF-D8E9-4B7C-A432-9AACFCB7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447925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FastMCP Server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5BD334-D987-4BE1-A144-35423BA9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857500"/>
            <a:ext cx="1000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会话查找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领域函数执行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结构化结果</a:t>
            </a:r>
          </a:p>
        </p:txBody>
      </p: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81325" y="29432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515100" y="29432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D3EE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29775" y="29432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E0B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CECD35-9E63-4FCC-A1A1-F2B6625D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966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32"/>
          </a:solidFill>
          <a:ln xmlns:a="http://schemas.openxmlformats.org/drawingml/2006/main" w="9525">
            <a:solidFill>
              <a:srgbClr val="2946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E384DC-0FB7-45A7-A2DD-7F089F2C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关键工程处理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5BA0C4-AC87-4086-97B0-93B5AC5B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0100"/>
            <a:ext cx="790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模型 schema 中删除 session_id，运行时绑定当前会话后自动注入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调用异常转成 ok=false、error_type、message、retryable，作为 tool 结果回传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事件检测结果先做代表性压缩，降低大规模事件列表对上下文的占用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D1EE9C-330F-46C9-96A3-F4A0BB92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来源：agent_runtime/mcp_client.py；mcp_chat_agent.py；mcp_server/server.py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04174B-7160-4816-B2E6-3BD4F13C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46573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394B68-6E40-4910-8C4A-D419D20A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06  RAG 建库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655EA-D29B-463B-8497-1E569DDF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结构感知的父子分块与双索引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1F55B-B891-44DF-ADCE-B9C770A7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047BA-28E6-4A7D-8A8A-B6376256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建库优先保留标题层级、表格和页码，再为召回与上下文扩展分别设计粒度。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86569-BC2F-4401-B3A8-DF492D0C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66391-404D-432D-B98B-8D14980D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知识文件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B3672-0F8C-4EB2-8BFF-7F72B40C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PDF、DOCX、MD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TXT、HTML、XHTML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7A6E7-57B3-4236-9A64-8A678991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6E756-34EB-4DD5-BDEA-8DEC2405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Docling 解析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1D1A4-A6BD-481F-9637-B73291C4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OCR、表格结构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标题层级、页码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15D7C-0452-44BC-975F-13D46E1E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C75B6-0E8B-47C6-9504-2D96FD00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结构块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8B017-56D8-4AA9-B00C-1BB721EC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heading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paragraph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list、table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22176-1CD1-4FCE-8567-108A8461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D3CAC-7BBC-4D50-89B2-98AAF4CD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父子分块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AB68B-011C-4574-B6D2-8C530E96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Parent 保持章节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Child 面向召回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1A0D7-774D-451B-99FE-A47963CE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67E8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E31CA-BCB7-4670-8EFF-2AC748E2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BGE-M3 编码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DACC5-9064-483F-8413-D94F1C6F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Dense 向量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Sparse token 权重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B6F9D4-D27C-4F93-B453-CBE6140C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0EF59-D305-4141-A13C-A85975BF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索引落盘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E7DB0-8AB2-4AB1-91CD-4930279D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FAISS Dense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Sparse 倒排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Parent / Child 元数据</a:t>
            </a:r>
          </a:p>
        </p:txBody>
      </p:sp>
      <p:cxnSp>
        <p:nvCxnSpPr>
          <p:cNvPr id="60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07645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4810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61975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39140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16305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DA22F8-873A-4EDA-A9CC-EB61A55C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10896600" cy="13335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E31"/>
          </a:solidFill>
          <a:ln xmlns:a="http://schemas.openxmlformats.org/drawingml/2006/main" w="9525">
            <a:solidFill>
              <a:srgbClr val="2946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39C395-2BCB-487A-B35D-3D7CCCFF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分块参数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4F4C14-B7B4-416C-938B-A6A5D667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72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Parent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04365F-A188-4B90-AE66-50C32DC2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72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目标 900，最大 1400 tokens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E0E88D-290B-4A17-ACF6-F32A7431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387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Child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D30994-B65F-4D38-8988-D2428489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387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目标 280，最大 400，重叠 50 tokens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FF8CCA-171C-41C1-BB0B-7B8C27C6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增量重建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4BF186-28C1-48FD-AE7C-F264B895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14900"/>
            <a:ext cx="3667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registry 比较文件 mtime、size、解析与分块配置。版本变化自动全量重建。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5F12F2-C15E-479E-883F-E3228F59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来源：RAG/docling_parser.py；chunker.py；indexer.py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4B7D0A-30B0-4D71-8C8F-2FFF6DAC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788854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875CAA-11C1-4C0A-869A-1B5770D2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07  RAG 检索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F31DE-B787-429C-85D7-C4D2DA35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策略路由、三路召回与重排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F8D57-9AD1-421F-AEE7-D4DC1343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7A906-9924-48CE-B392-8608F61C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检索结果最多返回 3 个父块，并在当前用户消息中临时注入。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FD5F6-4693-4A3E-A505-46B4C22A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38350"/>
            <a:ext cx="10572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85CA2-A3C1-40CA-8CC2-F6EB4CAA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133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检索策略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9B370-0699-4640-AC32-358F27A6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33600"/>
            <a:ext cx="871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知识问题直接检索。记录特异性工具请求跳过。模糊问题先做 FAISS 探测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E7806-9B9C-41D5-9120-7872DC54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95575"/>
            <a:ext cx="9429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D2337"/>
          </a:solidFill>
          <a:ln xmlns:a="http://schemas.openxmlformats.org/drawingml/2006/main" w="9525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8779E-5093-4605-8926-22274F40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7908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双路召回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0E886-8E02-40C4-BD17-BB8EC676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90825"/>
            <a:ext cx="757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Dense Top 20 + Sparse Top 20，RRF 权重 0.6 / 0.4，合并 Top 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C5020-330D-4FC1-80D4-75B3CB29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52800"/>
            <a:ext cx="8286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CD793-A3E2-43D4-AA42-AC4CE2CD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448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三路融合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304801-241B-4279-B1FC-C967BC76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48050"/>
            <a:ext cx="642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Dense 0.35 + Sparse 0.20 + ColBERT 0.45，保留 Top 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E28F7-B2C7-457D-BB3F-AA247894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10025"/>
            <a:ext cx="7143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D2337"/>
          </a:solidFill>
          <a:ln xmlns:a="http://schemas.openxmlformats.org/drawingml/2006/main" w="9525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0F1BF-28D3-48D9-8FB4-A0059386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1052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Cross Encoder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A2340-F496-42B5-AFB3-C1E462F0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05275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bge-reranker-v2-m3 计算 query-passage 相关度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1AD9CC-F8B7-4CC9-B211-7B340AE4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67250"/>
            <a:ext cx="6000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A16FA-0A25-4644-9412-43047555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762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最终评分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A96B6-A483-46DE-8302-A1F77C41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0.2 × coarse_normalized + 0.8 × rerank_score，默认阈值 0.5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9D355E-5A4C-4A47-9E90-DEED5C1A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324475"/>
            <a:ext cx="4857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D2337"/>
          </a:solidFill>
          <a:ln xmlns:a="http://schemas.openxmlformats.org/drawingml/2006/main"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24B21-818D-45F4-A270-29C57898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4197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上下文扩展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6B0CBC-DD76-4AB8-B3DF-C55A89DD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19725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按 parent 去重，补充命中 child 的前后相邻块，最终 Top 0 至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430449-6E68-47AC-A869-164E4AE2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隔离原则：检索片段只服务本轮知识回答，工具结果才形成患者特异性证据。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DC27D5-9D3D-4D7C-8FE2-9EC8C8C3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来源：RAG/retrieval_policy.py；retriever.py；ranking.py；searcher.py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87F049-48A8-4F0E-A0D0-9C4F8013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78317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D6E6D7-D136-422A-9401-65E10B43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08  端到端示例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FF848-202F-4925-9741-1EAC1226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一次事件筛查请求的执行轨迹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04E60-B462-4C18-BED0-1443D9EF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494FD-A2D7-415E-AEF6-9C778519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示例问题：前一分钟是否存在癫痫样放电？如果有，出现在哪些导联？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D5885-DD42-4E99-93AD-2DFC1D00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285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5F980-2C44-4946-ACD3-A7F6DE69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8DB9C-6C98-4198-A01D-1C176D16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0383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02885-8605-4398-8136-FF59F5C0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383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规划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87C4B-47B1-40BF-9684-E4E6C5BD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383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关键词命中 detection，加载 allowed_tools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7E5C7-487F-46AD-ADB4-DE94D9B7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765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170BF-4197-41F0-A17A-07ACCA68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5908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C23F8-5D9B-4AC1-A634-2C7C9C8F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908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检索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76AED-F35C-4213-B3BD-D4D758B5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908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识别为记录特异性请求，本轮跳过 RAG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E7E3F-C975-49EF-B7A6-A1953E0F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28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51F86F-578C-4FFC-8C19-5FCB9D9D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432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838E4-D308-4D3B-9AED-6BC3880D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432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030DB-CB50-4FA6-A1A3-CD4C7588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记录时长未知时，先请求 get_eeg_basic_information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17D6A-49C1-42AA-AB49-1CB46EB1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81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FE1B9-5572-46AB-8586-BE8DCC5D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957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3CAE7F-57A4-4E66-BB01-B4E0E438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957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500382-2278-4DFD-872E-D25341DD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957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运行时注入 session_id，经 MCP 获取记录范围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8E751A-2187-4C7E-AFCD-325E5827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33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3B421C-212F-4DDF-8955-B5D0CF36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248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17D90E-0051-49AE-8B6C-159D4526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481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54BBF5-3763-44F5-9436-E81895C7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481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构造 detect_eeg_events，窗口 0 至 60 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83E172-1923-49FB-98C7-EE80C52D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86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2EE399-CAF8-4953-B59E-1C404141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8006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C2F186-53B8-424F-A9FC-7CB7E67D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006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记忆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BC35DD-1AA8-4E04-94B9-E0A6A1F7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006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把事件数量、时间、导联、脑区和置信度写入摘要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0C223E-0A99-42F9-98A1-D791D606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38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B0D4CD-CAD0-4510-A932-E3420FDE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3530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5BE6C1-5CF3-44E6-9252-05420D15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530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回答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7DA3FF-B3C8-414C-970C-97ACEE51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530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只引用工具证据，并说明需要专业人员复核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B5833D-AA20-4AC9-B396-1DC9D9FE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791200"/>
            <a:ext cx="44005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6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A490E8-6C8E-48E9-8E68-BAB0FC4B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88645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可观测性：路由分数、工具耗时、上下文占用、缓存命中率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7A86DE-A8A0-4E5D-B019-A96D61FC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来源：agent_runtime/mcp_chat_agent.py；detection Skill；mcp_server/server.py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E7BAD9-F1D5-4452-A0A9-0E0E4542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263370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3E1FA-DA47-4CC5-B4FC-1E5F37B3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09  工程总结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66D5F-DEB9-49AE-B1AD-1A4AE8AF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当前实现与演进方向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EFA7D-A5DC-4CC4-8665-2CA66CE9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2C889-DCF2-4275-B477-A757DA43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面试中需要同时说明已经落地的能力，以及下一阶段可以怎样扩展。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85F9D-6E5F-4721-AD0E-ADD089BF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当前实现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FD4E9-ADAF-4B35-8737-0C5AE411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确定性关键词与本地语义路由结合，低置信度安全降级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Skill 指令按轮次隔离，执行前强制校验工具权限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三层记忆配合 token 预算，RAG 只在当前轮临时注入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MCP 解耦 Agent 与 EEG 算法，并提供完整执行轨迹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BCBBC-999B-4B68-A5AA-1BE94ED0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38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演进方向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46A72-EF3F-4EAF-A187-D4398F78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98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增加显式任务图，让复杂问题拆成可检查的多 Skill 子计划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把关键事件与报告写入可持久化记忆，并设计版本与权限策略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建立路由准确率、工具成功率、引用正确性与临床复核指标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对独立工具调用引入并行执行，同时保持会话状态一致性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1B84D-39E9-443E-A888-59DCE8D0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610850" cy="685800"/>
          </a:xfrm>
          <a:prstGeom xmlns:a="http://schemas.openxmlformats.org/drawingml/2006/main" prst="roundRect">
            <a:avLst>
              <a:gd name="adj" fmla="val 25000"/>
            </a:avLst>
          </a:prstGeom>
          <a:gradFill xmlns:a="http://schemas.openxmlformats.org/drawingml/2006/main">
            <a:gsLst>
              <a:gs pos="0">
                <a:srgbClr val="0E2A42"/>
              </a:gs>
              <a:gs pos="100000">
                <a:srgbClr val="14274A"/>
              </a:gs>
            </a:gsLst>
            <a:lin ang="5400000"/>
          </a:gra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C9D6D-0056-46E1-A6C8-32278CE7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面试总结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A95E6-CC2B-4CBB-B784-98AC320F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5816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EEGAgent 的技术重点是把 LLM 的灵活决策放进一个可控、可追踪、可扩展的领域运行时。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BDA47-2C1B-4BFF-9FFA-6031389C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来源：当前仓库实现；演进方向为基于现状的设计建议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50B51-88EC-4DF7-827E-E49B4E43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04705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2026-09-06T15:11:31.4300000Z</dcterms:created>
  <dcterms:modified xsi:type="dcterms:W3CDTF">2026-09-06T15:11:31.4310000Z</dcterms:modified>
</coreProperties>
</file>