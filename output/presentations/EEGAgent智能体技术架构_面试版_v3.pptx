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63" r:id="rId7"/>
    <p:sldId id="258" r:id="rId8"/>
    <p:sldId id="259" r:id="rId9"/>
    <p:sldId id="260" r:id="rId10"/>
    <p:sldId id="261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建议开场：EEGAgent 不是把 LLM 直接接到 EEG 数据，而是用运行时把规划、工具、记忆和知识检索拆成可控模块。</a:t>
            </a:r>
          </a:p>
          <a:p>
            <a:r>
              <a:t>来源：README.md；agent_runtime；RAG；mcp_server。</a:t>
            </a:r>
          </a:p>
          <a:p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面试讲法：用分层先建立全局认知。规划、记忆、调用协议、领域能力和知识库各自可替换。</a:t>
            </a:r>
          </a:p>
          <a:p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Parent 用于保存章节级上下文和来源元数据，Child 用于精细召回。</a:t>
            </a:r>
          </a:p>
          <a:p>
            <a:r>
              <a:t>表格和列表按行拆分，普通段落按句子边界拆分；稳定 ID 使用 SHA-1 摘要。</a:t>
            </a:r>
          </a:p>
          <a:p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模糊问题先用 Dense Top-1 做 FAISS probe，默认阈值 0.35。</a:t>
            </a:r>
          </a:p>
          <a:p>
            <a:r>
              <a:t>三路融合使用 rank 而不是直接混合原始分数，降低不同打分尺度造成的偏差。</a:t>
            </a:r>
          </a:p>
          <a:p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关键词路由适合高精度意图，命中后不再走语义选择。</a:t>
            </a:r>
          </a:p>
          <a:p>
            <a:r>
              <a:t>语义路由使用本地 BGE-M3，默认专用阈值 0.65，候选分差 0.05，general_eeg 下限 0.45。</a:t>
            </a:r>
          </a:p>
          <a:p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这是一个工程化 ReAct 循环：模型提出 action，MCP 返回 observation，模型继续决策。</a:t>
            </a:r>
          </a:p>
          <a:p>
            <a:r>
              <a:t>运行时收集流式 reasoning_content 和 tool_call 增量，确保 DeepSeek 思考模式在后续工具轮次保持上下文连续。</a:t>
            </a:r>
          </a:p>
          <a:p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会话摘要不是让模型自由总结工具原始输出。代码只抽取白名单字段，避免把大 payload 长期保存。</a:t>
            </a:r>
          </a:p>
          <a:p>
            <a:r>
              <a:t>历史压缩以完整 user turn 为单位，tool_calls 与对应 tool 消息保持原子性。</a:t>
            </a:r>
          </a:p>
          <a:p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双重授权包括 schema 暴露和执行前 allowlist 校验。当前实现为了保持提示词前缀稳定，模型在会话内看见固定工具 schema 联集。</a:t>
            </a:r>
          </a:p>
          <a:p>
            <a:r>
              <a:t>真正调用时仍按当前 Skill 检查权限，所以 schema 稳定不会扩大执行能力。</a:t>
            </a:r>
          </a:p>
          <a:p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这个例子适合面试时按 Trace 顺序讲，能够把规划、RAG 策略、MCP、记忆和安全输出串起来。</a:t>
            </a:r>
          </a:p>
          <a:p>
            <a:r>
              <a:t>detection Skill 规定窗口不超过 600 秒；本例使用 0 至 60 秒。</a:t>
            </a:r>
          </a:p>
          <a:p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最后一页把技术亮点与不足同时讲清楚。右侧均为建议，不代表当前已经实现。</a:t>
            </a:r>
          </a:p>
          <a:p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9144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lIns="76200" tIns="19050" rIns="76200" bIns="19050" anchor="ctr">
            <a:noAutofit/>
          </a:bodyPr>
          <a:lstStyle/>
          <a:p>
            <a:pPr algn="ctr">
              <a:def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5334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</a:t>
            </a:r>
            <a:endParaRPr sz="4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514600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2766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规划机制、记忆模块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工具调用、RAG 建库与检索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系统总览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五层技术架构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0955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2193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交互层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22193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PySide6 桌面端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57850" y="22193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28765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0003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运行时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003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30003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7700" y="36576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814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协议层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3781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over stdio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57850" y="37814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7700" y="44386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5624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能力层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66950" y="45624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 Tools + Session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45624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7700" y="52197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53435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知识层</a:t>
            </a:r>
            <a:endParaRPr sz="14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266950" y="53435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Local RAG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53435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建库、BGE-M3 混合召回、重排与</a:t>
            </a:r>
            <a:r>
              <a:rPr lang="zh-CN"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RAG 建库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知识文件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PDF、DOCX、MD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TXT、HTML、XHTML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193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098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解析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098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OCR、表格结构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结构块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heading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paragraph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list、table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626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父子分块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保持章节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 面向召回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7343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编码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向量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token 权重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059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索引落盘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964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FAISS Dense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倒排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0" name="直接箭头连接符 59"/>
          <p:cNvCxnSpPr>
            <a:stCxn id="5" idx="3"/>
            <a:endCxn id="8" idx="1"/>
          </p:cNvCxnSpPr>
          <p:nvPr/>
        </p:nvCxnSpPr>
        <p:spPr>
          <a:xfrm>
            <a:off x="20764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8" idx="3"/>
            <a:endCxn id="11" idx="1"/>
          </p:cNvCxnSpPr>
          <p:nvPr/>
        </p:nvCxnSpPr>
        <p:spPr>
          <a:xfrm>
            <a:off x="38481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2" name="直接箭头连接符 61"/>
          <p:cNvCxnSpPr>
            <a:stCxn id="11" idx="3"/>
            <a:endCxn id="14" idx="1"/>
          </p:cNvCxnSpPr>
          <p:nvPr/>
        </p:nvCxnSpPr>
        <p:spPr>
          <a:xfrm>
            <a:off x="56197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3" name="直接箭头连接符 62"/>
          <p:cNvCxnSpPr>
            <a:stCxn id="14" idx="3"/>
            <a:endCxn id="17" idx="1"/>
          </p:cNvCxnSpPr>
          <p:nvPr/>
        </p:nvCxnSpPr>
        <p:spPr>
          <a:xfrm>
            <a:off x="73914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4" name="直接箭头连接符 63"/>
          <p:cNvCxnSpPr>
            <a:stCxn id="17" idx="3"/>
            <a:endCxn id="20" idx="1"/>
          </p:cNvCxnSpPr>
          <p:nvPr/>
        </p:nvCxnSpPr>
        <p:spPr>
          <a:xfrm>
            <a:off x="91630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647700" y="4305300"/>
            <a:ext cx="10896600" cy="1333500"/>
          </a:xfrm>
          <a:prstGeom prst="roundRect">
            <a:avLst>
              <a:gd name="adj" fmla="val 14286"/>
            </a:avLst>
          </a:prstGeom>
          <a:solidFill>
            <a:srgbClr val="0B1E31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5720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分块参数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5720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333750" y="45720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52700" y="5038725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33750" y="503872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0" y="4572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增量重建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4914900"/>
            <a:ext cx="366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 检索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09625" y="2038350"/>
            <a:ext cx="10572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21336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检索策略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76500" y="2133600"/>
            <a:ext cx="8715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381125" y="2695575"/>
            <a:ext cx="9429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52575" y="27908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双路召回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2790825"/>
            <a:ext cx="757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52625" y="3352800"/>
            <a:ext cx="8286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124075" y="3448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三路融合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19500" y="3448050"/>
            <a:ext cx="6429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0.</a:t>
            </a:r>
            <a:r>
              <a:rPr lang="en-US"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524125" y="4010025"/>
            <a:ext cx="7143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95575" y="41052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Cross Encoder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91000" y="41052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095625" y="4667250"/>
            <a:ext cx="6000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267075" y="47625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最终评分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476250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67125" y="5324475"/>
            <a:ext cx="4857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38575" y="54197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上下文扩展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0" y="5419725"/>
            <a:ext cx="3000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规划机制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05050"/>
            <a:ext cx="2381250" cy="1066800"/>
          </a:xfrm>
          <a:prstGeom prst="roundRect">
            <a:avLst>
              <a:gd name="adj" fmla="val 16071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6697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用户问题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76550"/>
            <a:ext cx="200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19500" y="207645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10000" y="2238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0" y="264795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358140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74332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415290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05600" y="195262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211455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 Skill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96100" y="252412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05600" y="3257550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96100" y="3419475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general_eeg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3829050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705600" y="456247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96100" y="472440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no_skill</a:t>
            </a:r>
            <a:endParaRPr sz="16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96100" y="513397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01200" y="3000375"/>
            <a:ext cx="1943100" cy="1333500"/>
          </a:xfrm>
          <a:prstGeom prst="roundRect">
            <a:avLst>
              <a:gd name="adj" fmla="val 12857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91700" y="31623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本轮计划</a:t>
            </a:r>
            <a:endParaRPr sz="16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91700" y="3571875"/>
            <a:ext cx="1562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4" name="直接箭头连接符 63"/>
          <p:cNvCxnSpPr>
            <a:stCxn id="5" idx="3"/>
            <a:endCxn id="8" idx="1"/>
          </p:cNvCxnSpPr>
          <p:nvPr/>
        </p:nvCxnSpPr>
        <p:spPr>
          <a:xfrm flipV="1">
            <a:off x="3028950" y="2638425"/>
            <a:ext cx="590550" cy="200025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5" name="直接箭头连接符 64"/>
          <p:cNvCxnSpPr>
            <a:stCxn id="8" idx="3"/>
            <a:endCxn id="14" idx="1"/>
          </p:cNvCxnSpPr>
          <p:nvPr/>
        </p:nvCxnSpPr>
        <p:spPr>
          <a:xfrm flipV="1">
            <a:off x="6057900" y="2466975"/>
            <a:ext cx="647700" cy="17145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6" name="直接箭头连接符 65"/>
          <p:cNvCxnSpPr>
            <a:stCxn id="8" idx="2"/>
            <a:endCxn id="11" idx="0"/>
          </p:cNvCxnSpPr>
          <p:nvPr/>
        </p:nvCxnSpPr>
        <p:spPr>
          <a:xfrm>
            <a:off x="4838700" y="3200400"/>
            <a:ext cx="0" cy="381000"/>
          </a:xfrm>
          <a:prstGeom prst="straightConnector1">
            <a:avLst/>
          </a:prstGeom>
          <a:ln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5286375" y="3276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无命中</a:t>
            </a:r>
            <a:endParaRPr sz="975" b="1">
              <a:solidFill>
                <a:srgbClr val="7084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8" name="肘形连接符 67"/>
          <p:cNvCxnSpPr>
            <a:stCxn id="11" idx="3"/>
            <a:endCxn id="14" idx="1"/>
          </p:cNvCxnSpPr>
          <p:nvPr/>
        </p:nvCxnSpPr>
        <p:spPr>
          <a:xfrm flipV="1">
            <a:off x="6057900" y="2466975"/>
            <a:ext cx="647700" cy="1676400"/>
          </a:xfrm>
          <a:prstGeom prst="bentConnector3">
            <a:avLst>
              <a:gd name="adj1" fmla="val 50000"/>
            </a:avLst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9" name="肘形连接符 68"/>
          <p:cNvCxnSpPr>
            <a:stCxn id="11" idx="3"/>
            <a:endCxn id="17" idx="1"/>
          </p:cNvCxnSpPr>
          <p:nvPr/>
        </p:nvCxnSpPr>
        <p:spPr>
          <a:xfrm flipV="1">
            <a:off x="6057900" y="3771900"/>
            <a:ext cx="647700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0" name="肘形连接符 69"/>
          <p:cNvCxnSpPr>
            <a:stCxn id="11" idx="3"/>
            <a:endCxn id="20" idx="1"/>
          </p:cNvCxnSpPr>
          <p:nvPr/>
        </p:nvCxnSpPr>
        <p:spPr>
          <a:xfrm>
            <a:off x="6057900" y="4143375"/>
            <a:ext cx="647700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71" name="肘形连接符 70"/>
          <p:cNvCxnSpPr>
            <a:stCxn id="14" idx="3"/>
            <a:endCxn id="23" idx="1"/>
          </p:cNvCxnSpPr>
          <p:nvPr/>
        </p:nvCxnSpPr>
        <p:spPr>
          <a:xfrm>
            <a:off x="9010650" y="2466975"/>
            <a:ext cx="590550" cy="1200150"/>
          </a:xfrm>
          <a:prstGeom prst="bentConnector3">
            <a:avLst>
              <a:gd name="adj1" fmla="val 50000"/>
            </a:avLst>
          </a:prstGeom>
          <a:ln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72" name="直接箭头连接符 71"/>
          <p:cNvCxnSpPr>
            <a:stCxn id="17" idx="3"/>
            <a:endCxn id="23" idx="1"/>
          </p:cNvCxnSpPr>
          <p:nvPr/>
        </p:nvCxnSpPr>
        <p:spPr>
          <a:xfrm flipV="1">
            <a:off x="9010650" y="3667125"/>
            <a:ext cx="590550" cy="104775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3" name="肘形连接符 72"/>
          <p:cNvCxnSpPr>
            <a:stCxn id="20" idx="3"/>
            <a:endCxn id="23" idx="1"/>
          </p:cNvCxnSpPr>
          <p:nvPr/>
        </p:nvCxnSpPr>
        <p:spPr>
          <a:xfrm flipV="1">
            <a:off x="9010650" y="3667125"/>
            <a:ext cx="5905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规划执行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组织上下文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系统指令、会话摘要、本轮 Skill、</a:t>
            </a:r>
            <a:r>
              <a:rPr lang="zh-CN"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</a:t>
            </a:r>
            <a:r>
              <a:rPr lang="zh-CN"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模型决策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tool_calls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运行时校验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执行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写回结果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56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552950"/>
            <a:ext cx="8991600" cy="10858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943100" y="481965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继续循环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33750" y="4762500"/>
            <a:ext cx="6715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943100" y="53149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硬上限：8 轮工具调用。达到上限后移除工具 schema，要求模型基于已有证据</a:t>
            </a:r>
            <a:r>
              <a:rPr lang="zh-CN"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sz="127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记忆模块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压缩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4" name="图片 23" descr="Codex 图像 2026年9月7日 11_01_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844675"/>
            <a:ext cx="8366760" cy="470662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487170" y="1341120"/>
            <a:ext cx="4152900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主体结构：滑动窗口</a:t>
            </a:r>
            <a:r>
              <a:rPr lang="en-US" altLang="zh-CN">
                <a:solidFill>
                  <a:schemeClr val="bg1"/>
                </a:solidFill>
              </a:rPr>
              <a:t>+</a:t>
            </a:r>
            <a:r>
              <a:rPr lang="zh-CN" altLang="en-US">
                <a:solidFill>
                  <a:schemeClr val="bg1"/>
                </a:solidFill>
              </a:rPr>
              <a:t>摘要</a:t>
            </a:r>
            <a:r>
              <a:rPr lang="zh-CN" altLang="en-US">
                <a:solidFill>
                  <a:schemeClr val="bg1"/>
                </a:solidFill>
              </a:rPr>
              <a:t>压缩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工具调用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LLM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52850" y="2095500"/>
            <a:ext cx="2762250" cy="1695450"/>
          </a:xfrm>
          <a:prstGeom prst="roundRect">
            <a:avLst>
              <a:gd name="adj" fmla="val 10112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22574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Runtime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43350" y="2667000"/>
            <a:ext cx="2381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JSON 参数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 session_id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9615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 Bridge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 stdio 连接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163175" y="2286000"/>
            <a:ext cx="13811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353675" y="2447925"/>
            <a:ext cx="100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FastMCP Server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353675" y="2857500"/>
            <a:ext cx="10001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会话查找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领域函数执行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结构化结果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41" name="直接箭头连接符 40"/>
          <p:cNvCxnSpPr>
            <a:stCxn id="5" idx="3"/>
            <a:endCxn id="8" idx="1"/>
          </p:cNvCxnSpPr>
          <p:nvPr/>
        </p:nvCxnSpPr>
        <p:spPr>
          <a:xfrm>
            <a:off x="2981325" y="2943225"/>
            <a:ext cx="771525" cy="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stCxn id="8" idx="3"/>
            <a:endCxn id="11" idx="1"/>
          </p:cNvCxnSpPr>
          <p:nvPr/>
        </p:nvCxnSpPr>
        <p:spPr>
          <a:xfrm>
            <a:off x="6515100" y="2943225"/>
            <a:ext cx="781050" cy="0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43" name="直接箭头连接符 42"/>
          <p:cNvCxnSpPr>
            <a:stCxn id="11" idx="3"/>
            <a:endCxn id="14" idx="1"/>
          </p:cNvCxnSpPr>
          <p:nvPr/>
        </p:nvCxnSpPr>
        <p:spPr>
          <a:xfrm>
            <a:off x="9629775" y="2943225"/>
            <a:ext cx="5334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/>
          <p:cNvSpPr>
            <a:spLocks noGrp="1"/>
          </p:cNvSpPr>
          <p:nvPr/>
        </p:nvSpPr>
        <p:spPr>
          <a:xfrm>
            <a:off x="647700" y="4419600"/>
            <a:ext cx="10896600" cy="1428750"/>
          </a:xfrm>
          <a:prstGeom prst="roundRect">
            <a:avLst>
              <a:gd name="adj" fmla="val 13333"/>
            </a:avLst>
          </a:prstGeom>
          <a:solidFill>
            <a:srgbClr val="0B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6672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关键工程处理</a:t>
            </a:r>
            <a:endParaRPr sz="1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610100"/>
            <a:ext cx="7905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调用异常转成 ok=false、error_type、message、retryable，作为 tool 结果回传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端到端示例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回答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143750" y="5791200"/>
            <a:ext cx="4400550" cy="4572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53300" y="5886450"/>
            <a:ext cx="398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8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工程总结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</a:t>
            </a:r>
            <a:endParaRPr sz="19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60985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0555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演进方向</a:t>
            </a:r>
            <a:endParaRPr sz="19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05550" y="2609850"/>
            <a:ext cx="4953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5429250"/>
            <a:ext cx="10610850" cy="685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w="14288">
            <a:solidFill>
              <a:srgbClr val="22D3E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6197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面试总结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55816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9</a:t>
            </a:r>
            <a:endParaRPr lang="en-US"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2570</Words>
  <Application>WPS 演示</Application>
  <PresentationFormat>Converted Presentation</PresentationFormat>
  <Paragraphs>330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Noto Sans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</cp:lastModifiedBy>
  <cp:revision>4</cp:revision>
  <dcterms:created xsi:type="dcterms:W3CDTF">2026-09-06T15:17:00Z</dcterms:created>
  <dcterms:modified xsi:type="dcterms:W3CDTF">2026-09-07T03:19:05Z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09FDD3CBCBE4477F805D3F5517981A8B_12</vt:lpwstr>
  </property>
</Properties>
</file>