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建议开场：EEGAgent 不是把 LLM 直接接到 EEG 数据，而是用运行时把规划、工具、记忆和知识检索拆成可控模块。</a:t>
            </a:r>
          </a:p>
          <a:p>
            <a:r>
              <a:t>来源：README.md；agent_runtime；RAG；mcp_server。</a:t>
            </a:r>
          </a:p>
          <a:p>
            <a:r>
              <a:t>封面视觉为项目已有生成资源，仅用于技术主题表达。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面试讲法：用分层先建立全局认知。规划、记忆、调用协议、领域能力和知识库各自可替换。</a:t>
            </a:r>
          </a:p>
          <a:p>
            <a:r>
              <a:t>当前桌面端通过 stdio 启动本地 MCP 服务，Agent 通过 OpenAI 兼容接口调用 DeepSeek。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Parent 用于保存章节级上下文和来源元数据，Child 用于精细召回。</a:t>
            </a:r>
          </a:p>
          <a:p>
            <a:r>
              <a:t>表格和列表按行拆分，普通段落按句子边界拆分；稳定 ID 使用 SHA-1 摘要。</a:t>
            </a:r>
          </a:p>
          <a:p>
            <a:r>
              <a:t>FAISS 使用 IndexFlatIP，Sparse 使用 token_id 到文档权重的倒排表。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模糊问题先用 Dense Top-1 做 FAISS probe，默认阈值 0.35。</a:t>
            </a:r>
          </a:p>
          <a:p>
            <a:r>
              <a:t>三路融合使用 rank 而不是直接混合原始分数，降低不同打分尺度造成的偏差。</a:t>
            </a:r>
          </a:p>
          <a:p>
            <a:r>
              <a:t>reranker 输出 sigmoid 相关度，低于 0.5 的候选会被过滤，因此最终可能返回 0 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关键词路由适合高精度意图，命中后不再走语义选择。</a:t>
            </a:r>
          </a:p>
          <a:p>
            <a:r>
              <a:t>语义路由使用本地 BGE-M3，默认专用阈值 0.65，候选分差 0.05，general_eeg 下限 0.45。</a:t>
            </a:r>
          </a:p>
          <a:p>
            <a:r>
              <a:t>每个 Skill 的描述与多条 routing_examples 都参与编码，每个 Skill 取最相似两条的均值。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这是一个工程化 ReAct 循环：模型提出 action，MCP 返回 observation，模型继续决策。</a:t>
            </a:r>
          </a:p>
          <a:p>
            <a:r>
              <a:t>运行时收集流式 reasoning_content 和 tool_call 增量，确保 DeepSeek 思考模式在后续工具轮次保持上下文连续。</a:t>
            </a:r>
          </a:p>
          <a:p>
            <a:r>
              <a:t>MAX_TOOL_ROUNDS 为 8。错误会转为模型可见的结构化结果，不直接让整轮崩溃。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会话摘要不是让模型自由总结工具原始输出。代码只抽取白名单字段，避免把大 payload 长期保存。</a:t>
            </a:r>
          </a:p>
          <a:p>
            <a:r>
              <a:t>历史压缩以完整 user turn 为单位，tool_calls 与对应 tool 消息保持原子性。</a:t>
            </a:r>
          </a:p>
          <a:p>
            <a:r>
              <a:t>RAG 文本只临时注入当前 user message，模型返回后会替换回原问题，避免知识片段污染长期记忆。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双重授权包括 schema 暴露和执行前 allowlist 校验。当前实现为了保持提示词前缀稳定，模型在会话内看见固定工具 schema 联集。</a:t>
            </a:r>
          </a:p>
          <a:p>
            <a:r>
              <a:t>真正调用时仍按当前 Skill 检查权限，所以 schema 稳定不会扩大执行能力。</a:t>
            </a:r>
          </a:p>
          <a:p>
            <a:r>
              <a:t>MCPClientBridge 在后台线程维护异步 stdio 会话，对桌面端提供同步 list_tools 与 call_tool。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轨迹事件由 Agent Runtime 发出，通过稳定事件 ID 增量更新状态。</a:t>
            </a:r>
          </a:p>
          <a:p>
            <a:r>
              <a:t>事件类型覆盖 user/message、routing/decision、rag/retrieval、model/request、tool/call 和 turn/end。</a:t>
            </a:r>
          </a:p>
          <a:p>
            <a:r>
              <a:t>桌面端按轮次展示时间轴、可搜索事件表和输入输出详情，并聚合 LLM 耗时、工具耗时、平均 TTFT、生成速度、缓存命中率、token 与上下文占用。</a:t>
            </a:r>
          </a:p>
          <a:p>
            <a:r>
              <a:t>轨迹详情通过 _trace_text 做长度限制，不写入模型消息历史。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这个例子适合面试时按 Trace 顺序讲，能够把规划、RAG 策略、MCP、记忆和安全输出串起来。</a:t>
            </a:r>
          </a:p>
          <a:p>
            <a:r>
              <a:t>detection Skill 规定窗口不超过 600 秒；本例使用 0 至 60 秒。</a:t>
            </a:r>
          </a:p>
          <a:p>
            <a:r>
              <a:t>路由、RAG、模型请求、工具调用和 turn end 都会发出可视化 trace 事件。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最后一页把技术亮点与不足同时讲清楚。右侧均为建议，不代表当前已经实现。</a:t>
            </a:r>
          </a:p>
          <a:p>
            <a:r>
              <a:t>可根据应聘岗位调整重点：Agent 岗强调规划和记忆，平台岗强调 MCP 与可观测性，算法岗强调 RAG 与 EEG 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1" Type="http://schemas.openxmlformats.org/officeDocument/2006/relationships/notesSlide" Target="../notesSlides/notesSlide9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15.xml"/><Relationship Id="rId29" Type="http://schemas.openxmlformats.org/officeDocument/2006/relationships/tags" Target="../tags/tag41.xml"/><Relationship Id="rId28" Type="http://schemas.openxmlformats.org/officeDocument/2006/relationships/tags" Target="../tags/tag40.xml"/><Relationship Id="rId27" Type="http://schemas.openxmlformats.org/officeDocument/2006/relationships/tags" Target="../tags/tag39.xml"/><Relationship Id="rId26" Type="http://schemas.openxmlformats.org/officeDocument/2006/relationships/tags" Target="../tags/tag38.xml"/><Relationship Id="rId25" Type="http://schemas.openxmlformats.org/officeDocument/2006/relationships/tags" Target="../tags/tag37.xml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1" Type="http://schemas.openxmlformats.org/officeDocument/2006/relationships/notesSlide" Target="../notesSlides/notesSlide10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44.xml"/><Relationship Id="rId29" Type="http://schemas.openxmlformats.org/officeDocument/2006/relationships/tags" Target="../tags/tag70.xml"/><Relationship Id="rId28" Type="http://schemas.openxmlformats.org/officeDocument/2006/relationships/tags" Target="../tags/tag69.xml"/><Relationship Id="rId27" Type="http://schemas.openxmlformats.org/officeDocument/2006/relationships/tags" Target="../tags/tag68.xml"/><Relationship Id="rId26" Type="http://schemas.openxmlformats.org/officeDocument/2006/relationships/tags" Target="../tags/tag67.xml"/><Relationship Id="rId25" Type="http://schemas.openxmlformats.org/officeDocument/2006/relationships/tags" Target="../tags/tag66.xml"/><Relationship Id="rId24" Type="http://schemas.openxmlformats.org/officeDocument/2006/relationships/tags" Target="../tags/tag65.xml"/><Relationship Id="rId23" Type="http://schemas.openxmlformats.org/officeDocument/2006/relationships/tags" Target="../tags/tag64.xml"/><Relationship Id="rId22" Type="http://schemas.openxmlformats.org/officeDocument/2006/relationships/tags" Target="../tags/tag63.xml"/><Relationship Id="rId21" Type="http://schemas.openxmlformats.org/officeDocument/2006/relationships/tags" Target="../tags/tag62.xml"/><Relationship Id="rId20" Type="http://schemas.openxmlformats.org/officeDocument/2006/relationships/tags" Target="../tags/tag61.xml"/><Relationship Id="rId2" Type="http://schemas.openxmlformats.org/officeDocument/2006/relationships/tags" Target="../tags/tag43.xml"/><Relationship Id="rId19" Type="http://schemas.openxmlformats.org/officeDocument/2006/relationships/tags" Target="../tags/tag60.xml"/><Relationship Id="rId18" Type="http://schemas.openxmlformats.org/officeDocument/2006/relationships/tags" Target="../tags/tag59.xml"/><Relationship Id="rId17" Type="http://schemas.openxmlformats.org/officeDocument/2006/relationships/tags" Target="../tags/tag58.xml"/><Relationship Id="rId16" Type="http://schemas.openxmlformats.org/officeDocument/2006/relationships/tags" Target="../tags/tag57.xml"/><Relationship Id="rId15" Type="http://schemas.openxmlformats.org/officeDocument/2006/relationships/tags" Target="../tags/tag56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tags" Target="../tags/tag4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圆角矩形 2"/>
          <p:cNvSpPr>
            <a:spLocks noGrp="1"/>
          </p:cNvSpPr>
          <p:nvPr/>
        </p:nvSpPr>
        <p:spPr>
          <a:xfrm>
            <a:off x="685800" y="914400"/>
            <a:ext cx="2476500" cy="285750"/>
          </a:xfrm>
          <a:prstGeom prst="roundRect">
            <a:avLst>
              <a:gd name="adj" fmla="val 50000"/>
            </a:avLst>
          </a:prstGeom>
          <a:solidFill>
            <a:srgbClr val="22D3EE">
              <a:alpha val="14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  <p:txBody>
          <a:bodyPr lIns="76200" tIns="19050" rIns="76200" bIns="19050" anchor="ctr">
            <a:noAutofit/>
          </a:bodyPr>
          <a:lstStyle/>
          <a:p>
            <a:pPr algn="ctr">
              <a:buNone/>
              <a:defRPr sz="11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INTERVIEW TECHNICAL DECK</a:t>
            </a:r>
            <a:endParaRPr sz="1125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562100"/>
            <a:ext cx="5334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46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6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EEGAgent</a:t>
            </a:r>
            <a:endParaRPr sz="46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2514600"/>
            <a:ext cx="542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智能体技术架构与工程实现</a:t>
            </a:r>
            <a:endParaRPr sz="2325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3276600"/>
            <a:ext cx="5429250" cy="12992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>
                <a:sym typeface="+mn-ea"/>
              </a:rPr>
              <a:t>RAG 建库与检索</a:t>
            </a:r>
            <a:endParaRPr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规划机制</a:t>
            </a:r>
            <a:endParaRPr sz="15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记忆模块</a:t>
            </a:r>
            <a:endParaRPr sz="15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工具调用</a:t>
            </a:r>
            <a:r>
              <a:rPr lang="zh-CN" sz="15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模块</a:t>
            </a:r>
            <a:endParaRPr lang="zh-CN" sz="15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系统总览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五层技术架构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核心目标是让 LLM 负责决策，让确定性代码负责边界、执行和状态管理。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095500"/>
            <a:ext cx="10896600" cy="590550"/>
          </a:xfrm>
          <a:prstGeom prst="roundRect">
            <a:avLst>
              <a:gd name="adj" fmla="val 16129"/>
            </a:avLst>
          </a:prstGeom>
          <a:solidFill>
            <a:srgbClr val="0C2135"/>
          </a:solidFill>
          <a:ln w="9525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21932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交互层</a:t>
            </a:r>
            <a:endParaRPr sz="1425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266950" y="22193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PySide6 桌面端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657850" y="221932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EDF 选择、对话流、执行轨迹、取消与导出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47700" y="2876550"/>
            <a:ext cx="10896600" cy="590550"/>
          </a:xfrm>
          <a:prstGeom prst="roundRect">
            <a:avLst>
              <a:gd name="adj" fmla="val 16129"/>
            </a:avLst>
          </a:prstGeom>
          <a:solidFill>
            <a:srgbClr val="0A1C2E"/>
          </a:solidFill>
          <a:ln w="9525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300037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运行时</a:t>
            </a:r>
            <a:endParaRPr sz="1425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266950" y="300037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Planner + Memory + ReAct Loop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657850" y="300037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路由 Skill、管理上下文、驱动多轮工具调用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47700" y="3657600"/>
            <a:ext cx="10896600" cy="590550"/>
          </a:xfrm>
          <a:prstGeom prst="roundRect">
            <a:avLst>
              <a:gd name="adj" fmla="val 16129"/>
            </a:avLst>
          </a:prstGeom>
          <a:solidFill>
            <a:srgbClr val="0C2135"/>
          </a:solidFill>
          <a:ln w="9525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378142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协议层</a:t>
            </a:r>
            <a:endParaRPr sz="1425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266950" y="37814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over stdio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657850" y="378142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持久连接、工具发现、结构化调用与错误归一化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47700" y="4438650"/>
            <a:ext cx="10896600" cy="590550"/>
          </a:xfrm>
          <a:prstGeom prst="roundRect">
            <a:avLst>
              <a:gd name="adj" fmla="val 16129"/>
            </a:avLst>
          </a:prstGeom>
          <a:solidFill>
            <a:srgbClr val="0A1C2E"/>
          </a:solidFill>
          <a:ln w="9525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38200" y="456247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能力层</a:t>
            </a:r>
            <a:endParaRPr sz="1425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266950" y="456247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EEG Tools + Session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657850" y="456247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基础信息、片段探索、事件检测、报告生成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47700" y="5219700"/>
            <a:ext cx="10896600" cy="590550"/>
          </a:xfrm>
          <a:prstGeom prst="roundRect">
            <a:avLst>
              <a:gd name="adj" fmla="val 16129"/>
            </a:avLst>
          </a:prstGeom>
          <a:solidFill>
            <a:srgbClr val="0C2135"/>
          </a:solidFill>
          <a:ln w="9525">
            <a:solidFill>
              <a:srgbClr val="67E8F9">
                <a:alpha val="7000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38200" y="534352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知识层</a:t>
            </a:r>
            <a:endParaRPr sz="1425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266950" y="53435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Local RAG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657850" y="534352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Docling 建库、BGE-M3 混合召回、重排与</a:t>
            </a: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临时</a:t>
            </a: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注入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RAG 建库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结构感知的父子分块与双索引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建库优先保留标题层级、表格和页码，再为召回与上下文扩展分别设计粒度。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知识文件</a:t>
            </a:r>
            <a:endParaRPr sz="13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PDF、DOCX、MD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TXT、HTML、XHTML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41935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60985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Docling 解析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60985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OCR、表格结构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标题层级、页码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19100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38150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结构块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38150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heading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paragraph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list、table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96265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15315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父子分块</a:t>
            </a:r>
            <a:endParaRPr sz="13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15315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Parent 保持章节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Child 面向召回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73430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67E8F9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92480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BGE-M3 编码</a:t>
            </a:r>
            <a:endParaRPr sz="135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2480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Dense 向量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Sparse token 权重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50595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69645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索引落盘</a:t>
            </a:r>
            <a:endParaRPr sz="13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69645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FAISS Dense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Sparse 倒排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Parent / Child 元数据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87" name="直接箭头连接符 59"/>
          <p:cNvCxnSpPr>
            <a:stCxn id="5" idx="3"/>
            <a:endCxn id="8" idx="1"/>
          </p:cNvCxnSpPr>
          <p:nvPr/>
        </p:nvCxnSpPr>
        <p:spPr>
          <a:xfrm>
            <a:off x="2076450" y="3000375"/>
            <a:ext cx="3429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88" name="直接箭头连接符 60"/>
          <p:cNvCxnSpPr>
            <a:stCxn id="8" idx="3"/>
            <a:endCxn id="11" idx="1"/>
          </p:cNvCxnSpPr>
          <p:nvPr/>
        </p:nvCxnSpPr>
        <p:spPr>
          <a:xfrm>
            <a:off x="3848100" y="3000375"/>
            <a:ext cx="3429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89" name="直接箭头连接符 61"/>
          <p:cNvCxnSpPr>
            <a:stCxn id="11" idx="3"/>
            <a:endCxn id="14" idx="1"/>
          </p:cNvCxnSpPr>
          <p:nvPr/>
        </p:nvCxnSpPr>
        <p:spPr>
          <a:xfrm>
            <a:off x="5619750" y="3000375"/>
            <a:ext cx="3429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90" name="直接箭头连接符 62"/>
          <p:cNvCxnSpPr>
            <a:stCxn id="14" idx="3"/>
            <a:endCxn id="17" idx="1"/>
          </p:cNvCxnSpPr>
          <p:nvPr/>
        </p:nvCxnSpPr>
        <p:spPr>
          <a:xfrm>
            <a:off x="7391400" y="3000375"/>
            <a:ext cx="3429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91" name="直接箭头连接符 63"/>
          <p:cNvCxnSpPr>
            <a:stCxn id="17" idx="3"/>
            <a:endCxn id="20" idx="1"/>
          </p:cNvCxnSpPr>
          <p:nvPr/>
        </p:nvCxnSpPr>
        <p:spPr>
          <a:xfrm>
            <a:off x="9163050" y="3000375"/>
            <a:ext cx="3429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sp>
        <p:nvSpPr>
          <p:cNvPr id="28" name="圆角矩形 27"/>
          <p:cNvSpPr>
            <a:spLocks noGrp="1"/>
          </p:cNvSpPr>
          <p:nvPr/>
        </p:nvSpPr>
        <p:spPr>
          <a:xfrm>
            <a:off x="647700" y="4305300"/>
            <a:ext cx="10896600" cy="1333500"/>
          </a:xfrm>
          <a:prstGeom prst="roundRect">
            <a:avLst>
              <a:gd name="adj" fmla="val 14286"/>
            </a:avLst>
          </a:prstGeom>
          <a:solidFill>
            <a:srgbClr val="0B1E31"/>
          </a:solidFill>
          <a:ln w="9525">
            <a:solidFill>
              <a:srgbClr val="29465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14400" y="457200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分块参数</a:t>
            </a:r>
            <a:endParaRPr sz="16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552700" y="457200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Parent</a:t>
            </a:r>
            <a:endParaRPr sz="13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333750" y="45720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目标 900，最大 1400 tokens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552700" y="5038725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Child</a:t>
            </a:r>
            <a:endParaRPr sz="13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333750" y="5038725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目标 280，最大 400，重叠 50 tokens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239000" y="4572000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增量重建</a:t>
            </a:r>
            <a:endParaRPr sz="13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239000" y="4914900"/>
            <a:ext cx="3667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registry 比较文件 mtime、size、解析与分块配置。版本变化自动全量重建。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RAG 检索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策略路由、三路召回与重排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检索结果最多返回 3 个父块，并在当前用户消息中临时注入。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809625" y="2038350"/>
            <a:ext cx="10572750" cy="514350"/>
          </a:xfrm>
          <a:prstGeom prst="roundRect">
            <a:avLst>
              <a:gd name="adj" fmla="val 18519"/>
            </a:avLst>
          </a:prstGeom>
          <a:solidFill>
            <a:srgbClr val="10283F"/>
          </a:solidFill>
          <a:ln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81075" y="213360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检索策略</a:t>
            </a:r>
            <a:endParaRPr sz="13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476500" y="2133600"/>
            <a:ext cx="8715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知识问题直接检索。记录特异性工具请求跳过。模糊问题先做 FAISS 探测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381125" y="2695575"/>
            <a:ext cx="9429750" cy="514350"/>
          </a:xfrm>
          <a:prstGeom prst="roundRect">
            <a:avLst>
              <a:gd name="adj" fmla="val 18519"/>
            </a:avLst>
          </a:prstGeom>
          <a:solidFill>
            <a:srgbClr val="0D2337"/>
          </a:solidFill>
          <a:ln w="9525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552575" y="279082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双路召回</a:t>
            </a:r>
            <a:endParaRPr sz="135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048000" y="2790825"/>
            <a:ext cx="7572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Dense Top 20 + Sparse Top 20，RRF 权重 0.6 / 0.4，合并 Top 40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952625" y="3352800"/>
            <a:ext cx="8286750" cy="514350"/>
          </a:xfrm>
          <a:prstGeom prst="roundRect">
            <a:avLst>
              <a:gd name="adj" fmla="val 18519"/>
            </a:avLst>
          </a:prstGeom>
          <a:solidFill>
            <a:srgbClr val="10283F"/>
          </a:solidFill>
          <a:ln w="9525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124075" y="344805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三路融合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619500" y="3448050"/>
            <a:ext cx="6429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Dense 0.</a:t>
            </a: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4</a:t>
            </a: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+ Sparse 0.2 + ColBERT 0.4，保留 Top 15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524125" y="4010025"/>
            <a:ext cx="7143750" cy="514350"/>
          </a:xfrm>
          <a:prstGeom prst="roundRect">
            <a:avLst>
              <a:gd name="adj" fmla="val 18519"/>
            </a:avLst>
          </a:prstGeom>
          <a:solidFill>
            <a:srgbClr val="0D2337"/>
          </a:solidFill>
          <a:ln w="9525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2695575" y="410527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Cross Encoder</a:t>
            </a:r>
            <a:endParaRPr sz="13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191000" y="4105275"/>
            <a:ext cx="5286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bge-reranker-v2-m3 计算 query-passage 相关度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3095625" y="4667250"/>
            <a:ext cx="6000750" cy="514350"/>
          </a:xfrm>
          <a:prstGeom prst="roundRect">
            <a:avLst>
              <a:gd name="adj" fmla="val 18519"/>
            </a:avLst>
          </a:prstGeom>
          <a:solidFill>
            <a:srgbClr val="10283F"/>
          </a:solidFill>
          <a:ln w="9525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3267075" y="476250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最终评分</a:t>
            </a:r>
            <a:endParaRPr sz="13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762500" y="4762500"/>
            <a:ext cx="4143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0.2 × coarse_normalized + 0.8 × rerank_score，默认阈值 0.5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3667125" y="5324475"/>
            <a:ext cx="4857750" cy="514350"/>
          </a:xfrm>
          <a:prstGeom prst="roundRect">
            <a:avLst>
              <a:gd name="adj" fmla="val 18519"/>
            </a:avLst>
          </a:prstGeom>
          <a:solidFill>
            <a:srgbClr val="0D2337"/>
          </a:solidFill>
          <a:ln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838575" y="541972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上下文扩展</a:t>
            </a:r>
            <a:endParaRPr sz="13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334000" y="5419725"/>
            <a:ext cx="3000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按 parent 去重，补充命中 child 的前后相邻块，最终 Top 0 至 3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矩形 38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规划机制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两级 Skill 路由与安全降级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规划首先确定本轮任务边界，再决定是否生成工具调用。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305050"/>
            <a:ext cx="2381250" cy="1066800"/>
          </a:xfrm>
          <a:prstGeom prst="roundRect">
            <a:avLst>
              <a:gd name="adj" fmla="val 16071"/>
            </a:avLst>
          </a:prstGeom>
          <a:solidFill>
            <a:srgbClr val="10263B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466975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用户问题</a:t>
            </a:r>
            <a:endParaRPr sz="16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876550"/>
            <a:ext cx="20002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例如：检查前十分钟有没有癫痫样放电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619500" y="2076450"/>
            <a:ext cx="2438400" cy="1123950"/>
          </a:xfrm>
          <a:prstGeom prst="roundRect">
            <a:avLst>
              <a:gd name="adj" fmla="val 15254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810000" y="2238375"/>
            <a:ext cx="2057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关键词路由</a:t>
            </a:r>
            <a:endParaRPr sz="16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810000" y="2647950"/>
            <a:ext cx="2057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统计命中数，再按 priority 与名称排序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619500" y="3581400"/>
            <a:ext cx="2438400" cy="1123950"/>
          </a:xfrm>
          <a:prstGeom prst="roundRect">
            <a:avLst>
              <a:gd name="adj" fmla="val 15254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810000" y="3743325"/>
            <a:ext cx="2057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语义路由</a:t>
            </a:r>
            <a:endParaRPr sz="16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810000" y="4152900"/>
            <a:ext cx="2057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BGE-M3 对描述和 routing_examples 编码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705600" y="1952625"/>
            <a:ext cx="2305050" cy="1028700"/>
          </a:xfrm>
          <a:prstGeom prst="roundRect">
            <a:avLst>
              <a:gd name="adj" fmla="val 16667"/>
            </a:avLst>
          </a:prstGeom>
          <a:solidFill>
            <a:srgbClr val="10263B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896100" y="2114550"/>
            <a:ext cx="19240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专用 Skill</a:t>
            </a:r>
            <a:endParaRPr sz="16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96100" y="2524125"/>
            <a:ext cx="19240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top ≥ 0.65 且 margin ≥ 0.05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705600" y="3257550"/>
            <a:ext cx="2305050" cy="1028700"/>
          </a:xfrm>
          <a:prstGeom prst="roundRect">
            <a:avLst>
              <a:gd name="adj" fmla="val 16667"/>
            </a:avLst>
          </a:prstGeom>
          <a:solidFill>
            <a:srgbClr val="10263B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896100" y="3419475"/>
            <a:ext cx="19240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general_eeg</a:t>
            </a:r>
            <a:endParaRPr sz="16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96100" y="3829050"/>
            <a:ext cx="19240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专用未通过，但 top ≥ 0.45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705600" y="4562475"/>
            <a:ext cx="2305050" cy="1028700"/>
          </a:xfrm>
          <a:prstGeom prst="roundRect">
            <a:avLst>
              <a:gd name="adj" fmla="val 16667"/>
            </a:avLst>
          </a:prstGeom>
          <a:solidFill>
            <a:srgbClr val="10263B"/>
          </a:solidFill>
          <a:ln w="14288">
            <a:solidFill>
              <a:srgbClr val="FB7185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896100" y="4724400"/>
            <a:ext cx="19240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no_skill</a:t>
            </a:r>
            <a:endParaRPr sz="1650" b="1">
              <a:solidFill>
                <a:srgbClr val="FB718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96100" y="5133975"/>
            <a:ext cx="19240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低置信度时禁用 EEG 工具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9601200" y="3000375"/>
            <a:ext cx="1943100" cy="1333500"/>
          </a:xfrm>
          <a:prstGeom prst="roundRect">
            <a:avLst>
              <a:gd name="adj" fmla="val 12857"/>
            </a:avLst>
          </a:prstGeom>
          <a:solidFill>
            <a:srgbClr val="10263B"/>
          </a:solidFill>
          <a:ln w="14288">
            <a:solidFill>
              <a:srgbClr val="67E8F9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791700" y="3162300"/>
            <a:ext cx="15621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本轮计划</a:t>
            </a:r>
            <a:endParaRPr sz="165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791700" y="3571875"/>
            <a:ext cx="15621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Skill 指令 + allowed_tools + 输出规则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99" name="直接箭头连接符 63"/>
          <p:cNvCxnSpPr>
            <a:stCxn id="5" idx="3"/>
            <a:endCxn id="8" idx="1"/>
          </p:cNvCxnSpPr>
          <p:nvPr/>
        </p:nvCxnSpPr>
        <p:spPr>
          <a:xfrm flipV="1">
            <a:off x="3028950" y="2638425"/>
            <a:ext cx="590550" cy="200025"/>
          </a:xfrm>
          <a:prstGeom prst="straightConnector1">
            <a:avLst/>
          </a:prstGeom>
          <a:ln w="19050">
            <a:solidFill>
              <a:srgbClr val="22D3EE"/>
            </a:solidFill>
            <a:prstDash val="solid"/>
            <a:tailEnd type="triangle" w="sm" len="sm"/>
          </a:ln>
        </p:spPr>
      </p:cxnSp>
      <p:cxnSp>
        <p:nvCxnSpPr>
          <p:cNvPr id="100" name="直接箭头连接符 64"/>
          <p:cNvCxnSpPr>
            <a:stCxn id="8" idx="3"/>
            <a:endCxn id="14" idx="1"/>
          </p:cNvCxnSpPr>
          <p:nvPr/>
        </p:nvCxnSpPr>
        <p:spPr>
          <a:xfrm flipV="1">
            <a:off x="6057900" y="2466975"/>
            <a:ext cx="647700" cy="171450"/>
          </a:xfrm>
          <a:prstGeom prst="straightConnector1">
            <a:avLst/>
          </a:prstGeom>
          <a:ln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101" name="直接箭头连接符 65"/>
          <p:cNvCxnSpPr>
            <a:stCxn id="8" idx="2"/>
            <a:endCxn id="11" idx="0"/>
          </p:cNvCxnSpPr>
          <p:nvPr/>
        </p:nvCxnSpPr>
        <p:spPr>
          <a:xfrm>
            <a:off x="4838700" y="3200400"/>
            <a:ext cx="0" cy="381000"/>
          </a:xfrm>
          <a:prstGeom prst="straightConnector1">
            <a:avLst/>
          </a:prstGeom>
          <a:ln w="19050">
            <a:solidFill>
              <a:srgbClr val="70849A"/>
            </a:solidFill>
            <a:prstDash val="solid"/>
            <a:tailEnd type="triangle" w="sm" len="sm"/>
          </a:ln>
        </p:spPr>
      </p:cxnSp>
      <p:sp>
        <p:nvSpPr>
          <p:cNvPr id="29" name="矩形 28"/>
          <p:cNvSpPr>
            <a:spLocks noGrp="1"/>
          </p:cNvSpPr>
          <p:nvPr/>
        </p:nvSpPr>
        <p:spPr>
          <a:xfrm>
            <a:off x="5286375" y="3276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75" b="1">
                <a:solidFill>
                  <a:srgbClr val="70849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70849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无命中</a:t>
            </a:r>
            <a:endParaRPr sz="975" b="1">
              <a:solidFill>
                <a:srgbClr val="70849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103" name="肘形连接符 67"/>
          <p:cNvCxnSpPr>
            <a:stCxn id="11" idx="3"/>
            <a:endCxn id="14" idx="1"/>
          </p:cNvCxnSpPr>
          <p:nvPr/>
        </p:nvCxnSpPr>
        <p:spPr>
          <a:xfrm flipV="1">
            <a:off x="6057900" y="2466975"/>
            <a:ext cx="647700" cy="1676400"/>
          </a:xfrm>
          <a:prstGeom prst="bentConnector3">
            <a:avLst>
              <a:gd name="adj1" fmla="val 50000"/>
            </a:avLst>
          </a:prstGeom>
          <a:ln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104" name="肘形连接符 68"/>
          <p:cNvCxnSpPr>
            <a:stCxn id="11" idx="3"/>
            <a:endCxn id="17" idx="1"/>
          </p:cNvCxnSpPr>
          <p:nvPr/>
        </p:nvCxnSpPr>
        <p:spPr>
          <a:xfrm flipV="1">
            <a:off x="6057900" y="3771900"/>
            <a:ext cx="647700" cy="371475"/>
          </a:xfrm>
          <a:prstGeom prst="bentConnector3">
            <a:avLst>
              <a:gd name="adj1" fmla="val 50000"/>
            </a:avLst>
          </a:prstGeom>
          <a:ln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105" name="肘形连接符 69"/>
          <p:cNvCxnSpPr>
            <a:stCxn id="11" idx="3"/>
            <a:endCxn id="20" idx="1"/>
          </p:cNvCxnSpPr>
          <p:nvPr/>
        </p:nvCxnSpPr>
        <p:spPr>
          <a:xfrm>
            <a:off x="6057900" y="4143375"/>
            <a:ext cx="647700" cy="933450"/>
          </a:xfrm>
          <a:prstGeom prst="bentConnector3">
            <a:avLst>
              <a:gd name="adj1" fmla="val 50000"/>
            </a:avLst>
          </a:prstGeom>
          <a:ln w="19050">
            <a:solidFill>
              <a:srgbClr val="FB7185"/>
            </a:solidFill>
            <a:prstDash val="solid"/>
            <a:tailEnd type="triangle" w="sm" len="sm"/>
          </a:ln>
        </p:spPr>
      </p:cxnSp>
      <p:cxnSp>
        <p:nvCxnSpPr>
          <p:cNvPr id="106" name="肘形连接符 70"/>
          <p:cNvCxnSpPr>
            <a:stCxn id="14" idx="3"/>
            <a:endCxn id="23" idx="1"/>
          </p:cNvCxnSpPr>
          <p:nvPr/>
        </p:nvCxnSpPr>
        <p:spPr>
          <a:xfrm>
            <a:off x="9010650" y="2466975"/>
            <a:ext cx="590550" cy="1200150"/>
          </a:xfrm>
          <a:prstGeom prst="bentConnector3">
            <a:avLst>
              <a:gd name="adj1" fmla="val 50000"/>
            </a:avLst>
          </a:prstGeom>
          <a:ln w="19050">
            <a:solidFill>
              <a:srgbClr val="34D399"/>
            </a:solidFill>
            <a:prstDash val="solid"/>
            <a:tailEnd type="triangle" w="sm" len="sm"/>
          </a:ln>
        </p:spPr>
      </p:cxnSp>
      <p:cxnSp>
        <p:nvCxnSpPr>
          <p:cNvPr id="107" name="直接箭头连接符 71"/>
          <p:cNvCxnSpPr>
            <a:stCxn id="17" idx="3"/>
            <a:endCxn id="23" idx="1"/>
          </p:cNvCxnSpPr>
          <p:nvPr/>
        </p:nvCxnSpPr>
        <p:spPr>
          <a:xfrm flipV="1">
            <a:off x="9010650" y="3667125"/>
            <a:ext cx="590550" cy="104775"/>
          </a:xfrm>
          <a:prstGeom prst="straightConnector1">
            <a:avLst/>
          </a:prstGeom>
          <a:ln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108" name="肘形连接符 72"/>
          <p:cNvCxnSpPr>
            <a:stCxn id="20" idx="3"/>
            <a:endCxn id="23" idx="1"/>
          </p:cNvCxnSpPr>
          <p:nvPr/>
        </p:nvCxnSpPr>
        <p:spPr>
          <a:xfrm flipV="1">
            <a:off x="9010650" y="3667125"/>
            <a:ext cx="590550" cy="1409700"/>
          </a:xfrm>
          <a:prstGeom prst="bentConnector3">
            <a:avLst>
              <a:gd name="adj1" fmla="val 50000"/>
            </a:avLst>
          </a:prstGeom>
          <a:ln w="19050">
            <a:solidFill>
              <a:srgbClr val="FB7185"/>
            </a:solidFill>
            <a:prstDash val="solid"/>
            <a:tailEnd type="triangle" w="sm" len="sm"/>
          </a:ln>
        </p:spPr>
      </p:cxnSp>
      <p:sp>
        <p:nvSpPr>
          <p:cNvPr id="38" name="矩形 37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4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规划执行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受约束的流式 ReAct 循环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模型可以连续调用工具，但运行时掌握会话、授权、终止条件和错误处理。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组织上下文</a:t>
            </a:r>
            <a:endParaRPr sz="1425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系统指令、会话摘要、本轮 Skill、</a:t>
            </a: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</a:t>
            </a: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提问、</a:t>
            </a: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RAG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5146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7051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模型决策</a:t>
            </a:r>
            <a:endParaRPr sz="1425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7051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流式输出文本、推理内容与函数参数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815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5720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解析 tool_calls</a:t>
            </a:r>
            <a:endParaRPr sz="1425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720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按 index 拼接增量参数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2484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FB718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4389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运行时校验</a:t>
            </a:r>
            <a:endParaRPr sz="1425" b="1">
              <a:solidFill>
                <a:srgbClr val="FB718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389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检查 session 与 allowed_tools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1153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3058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执行</a:t>
            </a:r>
            <a:endParaRPr sz="1425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058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自动注入 session_id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9822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1727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写回结果</a:t>
            </a:r>
            <a:endParaRPr sz="1425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1727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tool 消息进入下一轮模型请求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83" name="直接箭头连接符 55"/>
          <p:cNvCxnSpPr>
            <a:stCxn id="5" idx="3"/>
            <a:endCxn id="8" idx="1"/>
          </p:cNvCxnSpPr>
          <p:nvPr/>
        </p:nvCxnSpPr>
        <p:spPr>
          <a:xfrm>
            <a:off x="21336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84" name="直接箭头连接符 56"/>
          <p:cNvCxnSpPr>
            <a:stCxn id="8" idx="3"/>
            <a:endCxn id="11" idx="1"/>
          </p:cNvCxnSpPr>
          <p:nvPr/>
        </p:nvCxnSpPr>
        <p:spPr>
          <a:xfrm>
            <a:off x="40005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85" name="直接箭头连接符 57"/>
          <p:cNvCxnSpPr>
            <a:stCxn id="11" idx="3"/>
            <a:endCxn id="14" idx="1"/>
          </p:cNvCxnSpPr>
          <p:nvPr/>
        </p:nvCxnSpPr>
        <p:spPr>
          <a:xfrm>
            <a:off x="58674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86" name="直接箭头连接符 58"/>
          <p:cNvCxnSpPr>
            <a:stCxn id="14" idx="3"/>
            <a:endCxn id="17" idx="1"/>
          </p:cNvCxnSpPr>
          <p:nvPr/>
        </p:nvCxnSpPr>
        <p:spPr>
          <a:xfrm>
            <a:off x="77343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87" name="直接箭头连接符 59"/>
          <p:cNvCxnSpPr>
            <a:stCxn id="17" idx="3"/>
            <a:endCxn id="20" idx="1"/>
          </p:cNvCxnSpPr>
          <p:nvPr/>
        </p:nvCxnSpPr>
        <p:spPr>
          <a:xfrm>
            <a:off x="96012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sp>
        <p:nvSpPr>
          <p:cNvPr id="28" name="圆角矩形 27"/>
          <p:cNvSpPr>
            <a:spLocks noGrp="1"/>
          </p:cNvSpPr>
          <p:nvPr/>
        </p:nvSpPr>
        <p:spPr>
          <a:xfrm>
            <a:off x="1600200" y="4552950"/>
            <a:ext cx="8991600" cy="1085850"/>
          </a:xfrm>
          <a:prstGeom prst="roundRect">
            <a:avLst>
              <a:gd name="adj" fmla="val 17544"/>
            </a:avLst>
          </a:prstGeom>
          <a:solidFill>
            <a:srgbClr val="0A1F32"/>
          </a:solidFill>
          <a:ln w="9525">
            <a:solidFill>
              <a:srgbClr val="29465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943100" y="4819650"/>
            <a:ext cx="1381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继续循环</a:t>
            </a:r>
            <a:endParaRPr sz="150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333750" y="4762500"/>
            <a:ext cx="6715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存在 tool_calls 时追加 assistant 与 tool 消息，再请求模型。没有工具调用时输出最终答案。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943100" y="531495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硬上限：8 轮工具调用。达到上限后移除工具 schema，要求模型基于已有证据</a:t>
            </a:r>
            <a:r>
              <a:rPr sz="127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输出回答</a:t>
            </a:r>
            <a:r>
              <a:rPr sz="127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endParaRPr sz="1275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记忆模块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上下文与模块</a:t>
            </a: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压缩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6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1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1844675"/>
            <a:ext cx="7934960" cy="4464050"/>
          </a:xfrm>
          <a:prstGeom prst="rect">
            <a:avLst/>
          </a:prstGeom>
        </p:spPr>
      </p:pic>
      <p:sp>
        <p:nvSpPr>
          <p:cNvPr id="25" name="文本框 24"/>
          <p:cNvSpPr>
            <a:spLocks noGrp="1"/>
          </p:cNvSpPr>
          <p:nvPr/>
        </p:nvSpPr>
        <p:spPr>
          <a:xfrm>
            <a:off x="1487170" y="1341120"/>
            <a:ext cx="4152900" cy="4489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>
                <a:solidFill>
                  <a:schemeClr val="bg1"/>
                </a:solidFill>
              </a:rPr>
              <a:t>主体结构：滑动窗口</a:t>
            </a:r>
            <a:r>
              <a:rPr>
                <a:solidFill>
                  <a:schemeClr val="bg1"/>
                </a:solidFill>
              </a:rPr>
              <a:t>+</a:t>
            </a:r>
            <a:r>
              <a:rPr>
                <a:solidFill>
                  <a:schemeClr val="bg1"/>
                </a:solidFill>
              </a:rPr>
              <a:t>摘要</a:t>
            </a:r>
            <a:r>
              <a:rPr>
                <a:solidFill>
                  <a:schemeClr val="bg1"/>
                </a:solidFill>
              </a:rPr>
              <a:t>压缩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工具调用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工具链与双重授权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模型看见稳定 schema，运行时仍会在真正执行前做二次检查。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286000"/>
            <a:ext cx="2333625" cy="1314450"/>
          </a:xfrm>
          <a:prstGeom prst="roundRect">
            <a:avLst>
              <a:gd name="adj" fmla="val 13043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447925"/>
            <a:ext cx="1952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LLM</a:t>
            </a:r>
            <a:endParaRPr sz="16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857500"/>
            <a:ext cx="19526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固定展示所有运行时 Skill 所引用工具的 schema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752850" y="2095500"/>
            <a:ext cx="2762250" cy="1695450"/>
          </a:xfrm>
          <a:prstGeom prst="roundRect">
            <a:avLst>
              <a:gd name="adj" fmla="val 10112"/>
            </a:avLst>
          </a:prstGeom>
          <a:solidFill>
            <a:srgbClr val="10263B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943350" y="2257425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Runtime</a:t>
            </a:r>
            <a:endParaRPr sz="16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943350" y="2667000"/>
            <a:ext cx="23812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解析 JSON 参数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校验 Skill allowlist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注入 session_id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296150" y="2286000"/>
            <a:ext cx="2333625" cy="1314450"/>
          </a:xfrm>
          <a:prstGeom prst="roundRect">
            <a:avLst>
              <a:gd name="adj" fmla="val 13043"/>
            </a:avLst>
          </a:prstGeom>
          <a:solidFill>
            <a:srgbClr val="10263B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86650" y="2447925"/>
            <a:ext cx="1952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Client Bridge</a:t>
            </a:r>
            <a:endParaRPr sz="16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86650" y="2857500"/>
            <a:ext cx="19526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持久 stdio 连接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0163175" y="2286000"/>
            <a:ext cx="1381125" cy="1314450"/>
          </a:xfrm>
          <a:prstGeom prst="roundRect">
            <a:avLst>
              <a:gd name="adj" fmla="val 13043"/>
            </a:avLst>
          </a:prstGeom>
          <a:solidFill>
            <a:srgbClr val="10263B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353675" y="2447925"/>
            <a:ext cx="1000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FastMCP Server</a:t>
            </a:r>
            <a:endParaRPr sz="16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353675" y="2857500"/>
            <a:ext cx="10001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会话查找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领域函数执行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结构化结果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60" name="直接箭头连接符 40"/>
          <p:cNvCxnSpPr>
            <a:stCxn id="5" idx="3"/>
            <a:endCxn id="8" idx="1"/>
          </p:cNvCxnSpPr>
          <p:nvPr/>
        </p:nvCxnSpPr>
        <p:spPr>
          <a:xfrm>
            <a:off x="2981325" y="2943225"/>
            <a:ext cx="771525" cy="0"/>
          </a:xfrm>
          <a:prstGeom prst="straightConnector1">
            <a:avLst/>
          </a:prstGeom>
          <a:ln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61" name="直接箭头连接符 41"/>
          <p:cNvCxnSpPr>
            <a:stCxn id="8" idx="3"/>
            <a:endCxn id="11" idx="1"/>
          </p:cNvCxnSpPr>
          <p:nvPr/>
        </p:nvCxnSpPr>
        <p:spPr>
          <a:xfrm>
            <a:off x="6515100" y="2943225"/>
            <a:ext cx="781050" cy="0"/>
          </a:xfrm>
          <a:prstGeom prst="straightConnector1">
            <a:avLst/>
          </a:prstGeom>
          <a:ln w="19050">
            <a:solidFill>
              <a:srgbClr val="22D3EE"/>
            </a:solidFill>
            <a:prstDash val="solid"/>
            <a:tailEnd type="triangle" w="sm" len="sm"/>
          </a:ln>
        </p:spPr>
      </p:cxnSp>
      <p:cxnSp>
        <p:nvCxnSpPr>
          <p:cNvPr id="62" name="直接箭头连接符 42"/>
          <p:cNvCxnSpPr>
            <a:stCxn id="11" idx="3"/>
            <a:endCxn id="14" idx="1"/>
          </p:cNvCxnSpPr>
          <p:nvPr/>
        </p:nvCxnSpPr>
        <p:spPr>
          <a:xfrm>
            <a:off x="9629775" y="2943225"/>
            <a:ext cx="533400" cy="0"/>
          </a:xfrm>
          <a:prstGeom prst="straightConnector1">
            <a:avLst/>
          </a:prstGeom>
          <a:ln w="19050">
            <a:solidFill>
              <a:srgbClr val="F59E0B"/>
            </a:solidFill>
            <a:prstDash val="solid"/>
            <a:tailEnd type="triangle" w="sm" len="sm"/>
          </a:ln>
        </p:spPr>
      </p:cxnSp>
      <p:sp>
        <p:nvSpPr>
          <p:cNvPr id="20" name="圆角矩形 19"/>
          <p:cNvSpPr>
            <a:spLocks noGrp="1"/>
          </p:cNvSpPr>
          <p:nvPr/>
        </p:nvSpPr>
        <p:spPr>
          <a:xfrm>
            <a:off x="647700" y="4419600"/>
            <a:ext cx="10896600" cy="1428750"/>
          </a:xfrm>
          <a:prstGeom prst="roundRect">
            <a:avLst>
              <a:gd name="adj" fmla="val 13333"/>
            </a:avLst>
          </a:prstGeom>
          <a:solidFill>
            <a:srgbClr val="0B1F32"/>
          </a:solidFill>
          <a:ln w="9525">
            <a:solidFill>
              <a:srgbClr val="29465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14400" y="466725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关键工程处理</a:t>
            </a:r>
            <a:endParaRPr sz="16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143250" y="4610100"/>
            <a:ext cx="79057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 schema 中删除 session_id，运行时绑定当前会话后自动注入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调用异常转成 ok=false、error_type、message、retryable，作为 tool 结果回传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事件检测结果先做代表性压缩，降低大规模事件列表对上下文的占用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7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执行轨迹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事件模型、实时更新与指标聚合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每个阶段发出带稳定 ID 的事件，桌面端实时更新状态并聚合性能指标。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23950" y="2114550"/>
            <a:ext cx="28575" cy="342900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6" name="椭圆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90600" y="2124075"/>
            <a:ext cx="285750" cy="28575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438275" y="20383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076450" y="20383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输入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314700" y="20383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user/message：记录原始问题、turn 与起止时间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椭圆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90600" y="2676525"/>
            <a:ext cx="285750" cy="28575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438275" y="25908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13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2076450" y="259080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路由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3314700" y="259080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routing/decision：Skill、路由来源、关键词命中与置信度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椭圆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90600" y="3228975"/>
            <a:ext cx="285750" cy="285750"/>
          </a:xfrm>
          <a:prstGeom prst="ellipse">
            <a:avLst/>
          </a:prstGeom>
          <a:solidFill>
            <a:srgbClr val="67E8F9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38275" y="31432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135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076450" y="31432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检索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3314700" y="31432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rag/retrieval：检索策略、参考片段、来源与耗时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椭圆 17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990600" y="3781425"/>
            <a:ext cx="285750" cy="28575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1438275" y="36957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sz="13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2076450" y="369570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3314700" y="369570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model/request：状态、TTFT、token 与缓存统计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椭圆 21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990600" y="4333875"/>
            <a:ext cx="285750" cy="28575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1438275" y="42481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2076450" y="42481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工具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3314700" y="42481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tool/call：工具名、参数、执行状态、输入输出与耗时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椭圆 25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990600" y="4886325"/>
            <a:ext cx="285750" cy="28575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</p:sp>
      <p:sp>
        <p:nvSpPr>
          <p:cNvPr id="27" name="矩形 26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1438275" y="48006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</a:t>
            </a:r>
            <a:endParaRPr sz="13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2076450" y="480060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更新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3314700" y="480060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同一事件 ID 从 running 更新为 complete、error 或 cancelled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椭圆 29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990600" y="5438775"/>
            <a:ext cx="285750" cy="285750"/>
          </a:xfrm>
          <a:prstGeom prst="ellipse">
            <a:avLst/>
          </a:prstGeom>
          <a:solidFill>
            <a:srgbClr val="FB7185"/>
          </a:solidFill>
          <a:ln w="0">
            <a:noFill/>
          </a:ln>
        </p:spPr>
      </p:sp>
      <p:sp>
        <p:nvSpPr>
          <p:cNvPr id="31" name="矩形 30"/>
          <p:cNvSpPr>
            <a:spLocks noGrp="1"/>
          </p:cNvSpPr>
          <p:nvPr>
            <p:custDataLst>
              <p:tags r:id="rId27"/>
            </p:custDataLst>
          </p:nvPr>
        </p:nvSpPr>
        <p:spPr>
          <a:xfrm>
            <a:off x="1438275" y="53530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07</a:t>
            </a:r>
            <a:endParaRPr sz="1350" b="1">
              <a:solidFill>
                <a:srgbClr val="FB718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>
            <p:custDataLst>
              <p:tags r:id="rId28"/>
            </p:custDataLst>
          </p:nvPr>
        </p:nvSpPr>
        <p:spPr>
          <a:xfrm>
            <a:off x="2076450" y="53530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收束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>
            <p:custDataLst>
              <p:tags r:id="rId29"/>
            </p:custDataLst>
          </p:nvPr>
        </p:nvSpPr>
        <p:spPr>
          <a:xfrm>
            <a:off x="3314700" y="53530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turn/end：模型轮数、工具轮数、上下文占用与总耗时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5143500" y="5753100"/>
            <a:ext cx="6400800" cy="533400"/>
          </a:xfrm>
          <a:prstGeom prst="roundRect">
            <a:avLst>
              <a:gd name="adj" fmla="val 25000"/>
            </a:avLst>
          </a:prstGeom>
          <a:solidFill>
            <a:srgbClr val="14263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334000" y="5810250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UI：时间轴、事件表、输入输出详情；摘要栏聚合耗时、TTFT、tokens 与缓存</a:t>
            </a:r>
            <a:endParaRPr sz="120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8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端到端示例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一次事件筛查请求的执行轨迹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示例问题：前一分钟是否存在癫痫样放电？如果有，出现在哪些导联？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23950" y="2114550"/>
            <a:ext cx="28575" cy="342900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6" name="椭圆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90600" y="2124075"/>
            <a:ext cx="285750" cy="28575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438275" y="20383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076450" y="20383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规划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314700" y="20383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关键词命中 detection，加载 allowed_tools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椭圆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90600" y="2676525"/>
            <a:ext cx="285750" cy="28575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438275" y="25908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13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2076450" y="259080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检索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3314700" y="259080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识别为记录特异性请求，本轮跳过 RAG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椭圆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90600" y="3228975"/>
            <a:ext cx="285750" cy="285750"/>
          </a:xfrm>
          <a:prstGeom prst="ellipse">
            <a:avLst/>
          </a:prstGeom>
          <a:solidFill>
            <a:srgbClr val="67E8F9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38275" y="31432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135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076450" y="31432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3314700" y="31432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记录时长未知时，先请求 get_eeg_basic_information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椭圆 17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990600" y="3781425"/>
            <a:ext cx="285750" cy="28575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1438275" y="36957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sz="13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2076450" y="369570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执行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3314700" y="369570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运行时注入 session_id，经 MCP 获取记录范围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椭圆 21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990600" y="4333875"/>
            <a:ext cx="285750" cy="28575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1438275" y="42481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2076450" y="42481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3314700" y="42481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构造 detect_eeg_events，窗口 0 至 60 秒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椭圆 25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990600" y="4886325"/>
            <a:ext cx="285750" cy="28575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</p:sp>
      <p:sp>
        <p:nvSpPr>
          <p:cNvPr id="27" name="矩形 26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1438275" y="48006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</a:t>
            </a:r>
            <a:endParaRPr sz="13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2076450" y="480060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记忆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3314700" y="480060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把事件数量、时间、导联、脑区和置信度写入摘要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椭圆 29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990600" y="5438775"/>
            <a:ext cx="285750" cy="285750"/>
          </a:xfrm>
          <a:prstGeom prst="ellipse">
            <a:avLst/>
          </a:prstGeom>
          <a:solidFill>
            <a:srgbClr val="FB7185"/>
          </a:solidFill>
          <a:ln w="0">
            <a:noFill/>
          </a:ln>
        </p:spPr>
      </p:sp>
      <p:sp>
        <p:nvSpPr>
          <p:cNvPr id="31" name="矩形 30"/>
          <p:cNvSpPr>
            <a:spLocks noGrp="1"/>
          </p:cNvSpPr>
          <p:nvPr>
            <p:custDataLst>
              <p:tags r:id="rId27"/>
            </p:custDataLst>
          </p:nvPr>
        </p:nvSpPr>
        <p:spPr>
          <a:xfrm>
            <a:off x="1438275" y="53530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07</a:t>
            </a:r>
            <a:endParaRPr sz="1350" b="1">
              <a:solidFill>
                <a:srgbClr val="FB718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>
            <p:custDataLst>
              <p:tags r:id="rId28"/>
            </p:custDataLst>
          </p:nvPr>
        </p:nvSpPr>
        <p:spPr>
          <a:xfrm>
            <a:off x="2076450" y="53530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回答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>
            <p:custDataLst>
              <p:tags r:id="rId29"/>
            </p:custDataLst>
          </p:nvPr>
        </p:nvSpPr>
        <p:spPr>
          <a:xfrm>
            <a:off x="3314700" y="53530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只引用工具证据，并说明需要专业人员复核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143750" y="5791200"/>
            <a:ext cx="4400550" cy="457200"/>
          </a:xfrm>
          <a:prstGeom prst="roundRect">
            <a:avLst>
              <a:gd name="adj" fmla="val 25000"/>
            </a:avLst>
          </a:prstGeom>
          <a:solidFill>
            <a:srgbClr val="14263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353300" y="5886450"/>
            <a:ext cx="398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可观测性：路由分数、工具耗时、上下文占用、缓存命中率</a:t>
            </a:r>
            <a:endParaRPr sz="120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09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工程总结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当前实现与演进方向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面试中需要同时说明已经落地的能力，以及下一阶段可以怎样扩展。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203835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当前实现</a:t>
            </a:r>
            <a:endParaRPr sz="19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2609850"/>
            <a:ext cx="4857750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确定性关键词与本地语义路由结合，低置信度安全降级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Skill 指令按轮次隔离，执行前强制校验工具权限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三层记忆配合 token 预算，RAG 只在当前轮临时注入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解耦 Agent 与 EEG 算法，并提供完整执行轨迹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305550" y="203835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演进方向</a:t>
            </a:r>
            <a:endParaRPr sz="19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305550" y="2609850"/>
            <a:ext cx="4953000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增加显式任务图，让复杂问题拆成可检查的多 Skill 子计划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把关键事件与报告写入可持久化记忆，并设计版本与权限策略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建立路由准确率、工具成功率、引用正确性与临床复核指标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对独立工具调用引入并行执行，同时保持会话状态一致性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47700" y="5429250"/>
            <a:ext cx="10610850" cy="6858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0E2A42"/>
              </a:gs>
              <a:gs pos="100000">
                <a:srgbClr val="14274A"/>
              </a:gs>
            </a:gsLst>
            <a:lin ang="5400000"/>
          </a:gradFill>
          <a:ln w="14288">
            <a:solidFill>
              <a:srgbClr val="22D3E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5619750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面试总结</a:t>
            </a:r>
            <a:endParaRPr sz="150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343150" y="5581650"/>
            <a:ext cx="8572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EEGAgent 的技术重点是把 LLM 的灵活决策放进一个可控、可追踪、可扩展的领域运行时。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10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5.75,&quot;left&quot;:108.75,&quot;top&quot;:212.25,&quot;width&quot;:742.5}"/>
</p:tagLst>
</file>

<file path=ppt/tags/tag2.xml><?xml version="1.0" encoding="utf-8"?>
<p:tagLst xmlns:p="http://schemas.openxmlformats.org/presentationml/2006/main">
  <p:tag name="KSO_WM_DIAGRAM_VIRTUALLY_FRAME" val="{&quot;height&quot;:195.75,&quot;left&quot;:108.75,&quot;top&quot;:212.25,&quot;width&quot;:742.5}"/>
</p:tagLst>
</file>

<file path=ppt/tags/tag3.xml><?xml version="1.0" encoding="utf-8"?>
<p:tagLst xmlns:p="http://schemas.openxmlformats.org/presentationml/2006/main">
  <p:tag name="KSO_WM_DIAGRAM_VIRTUALLY_FRAME" val="{&quot;height&quot;:195.75,&quot;left&quot;:108.75,&quot;top&quot;:212.25,&quot;width&quot;:742.5}"/>
</p:tagLst>
</file>

<file path=ppt/tags/tag4.xml><?xml version="1.0" encoding="utf-8"?>
<p:tagLst xmlns:p="http://schemas.openxmlformats.org/presentationml/2006/main">
  <p:tag name="KSO_WM_DIAGRAM_VIRTUALLY_FRAME" val="{&quot;height&quot;:195.75,&quot;left&quot;:108.75,&quot;top&quot;:212.25,&quot;width&quot;:742.5}"/>
</p:tagLst>
</file>

<file path=ppt/tags/tag5.xml><?xml version="1.0" encoding="utf-8"?>
<p:tagLst xmlns:p="http://schemas.openxmlformats.org/presentationml/2006/main">
  <p:tag name="KSO_WM_DIAGRAM_VIRTUALLY_FRAME" val="{&quot;height&quot;:195.75,&quot;left&quot;:108.75,&quot;top&quot;:212.25,&quot;width&quot;:742.5}"/>
</p:tagLst>
</file>

<file path=ppt/tags/tag6.xml><?xml version="1.0" encoding="utf-8"?>
<p:tagLst xmlns:p="http://schemas.openxmlformats.org/presentationml/2006/main">
  <p:tag name="KSO_WM_DIAGRAM_VIRTUALLY_FRAME" val="{&quot;height&quot;:195.75,&quot;left&quot;:108.75,&quot;top&quot;:212.25,&quot;width&quot;:742.5}"/>
</p:tagLst>
</file>

<file path=ppt/tags/tag7.xml><?xml version="1.0" encoding="utf-8"?>
<p:tagLst xmlns:p="http://schemas.openxmlformats.org/presentationml/2006/main">
  <p:tag name="KSO_WM_DIAGRAM_VIRTUALLY_FRAME" val="{&quot;height&quot;:195.75,&quot;left&quot;:108.75,&quot;top&quot;:212.25,&quot;width&quot;:742.5}"/>
</p:tagLst>
</file>

<file path=ppt/tags/tag8.xml><?xml version="1.0" encoding="utf-8"?>
<p:tagLst xmlns:p="http://schemas.openxmlformats.org/presentationml/2006/main">
  <p:tag name="KSO_WM_DIAGRAM_VIRTUALLY_FRAME" val="{&quot;height&quot;:195.75,&quot;left&quot;:108.75,&quot;top&quot;:212.25,&quot;width&quot;:742.5}"/>
</p:tagLst>
</file>

<file path=ppt/tags/tag9.xml><?xml version="1.0" encoding="utf-8"?>
<p:tagLst xmlns:p="http://schemas.openxmlformats.org/presentationml/2006/main">
  <p:tag name="KSO_WM_DIAGRAM_VIRTUALLY_FRAME" val="{&quot;height&quot;:195.75,&quot;left&quot;:108.75,&quot;top&quot;:212.25,&quot;width&quot;:742.5}"/>
</p:tagLst>
</file>

<file path=ppt/tags/tag10.xml><?xml version="1.0" encoding="utf-8"?>
<p:tagLst xmlns:p="http://schemas.openxmlformats.org/presentationml/2006/main">
  <p:tag name="KSO_WM_DIAGRAM_VIRTUALLY_FRAME" val="{&quot;height&quot;:195.75,&quot;left&quot;:108.75,&quot;top&quot;:212.25,&quot;width&quot;:742.5}"/>
</p:tagLst>
</file>

<file path=ppt/tags/tag11.xml><?xml version="1.0" encoding="utf-8"?>
<p:tagLst xmlns:p="http://schemas.openxmlformats.org/presentationml/2006/main">
  <p:tag name="KSO_WM_DIAGRAM_VIRTUALLY_FRAME" val="{&quot;height&quot;:195.75,&quot;left&quot;:108.75,&quot;top&quot;:212.25,&quot;width&quot;:742.5}"/>
</p:tagLst>
</file>

<file path=ppt/tags/tag12.xml><?xml version="1.0" encoding="utf-8"?>
<p:tagLst xmlns:p="http://schemas.openxmlformats.org/presentationml/2006/main">
  <p:tag name="KSO_WM_DIAGRAM_VIRTUALLY_FRAME" val="{&quot;height&quot;:195.75,&quot;left&quot;:108.75,&quot;top&quot;:212.25,&quot;width&quot;:742.5}"/>
</p:tagLst>
</file>

<file path=ppt/tags/tag13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14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15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16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17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18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19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20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21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22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23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24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25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26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27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28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29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30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31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32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33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34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35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36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37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38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39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40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41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42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43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44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45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46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47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48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49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50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51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52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53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54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55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56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57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58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59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60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61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62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63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64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65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66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67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68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69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ags/tag70.xml><?xml version="1.0" encoding="utf-8"?>
<p:tagLst xmlns:p="http://schemas.openxmlformats.org/presentationml/2006/main">
  <p:tag name="KSO_WM_DIAGRAM_VIRTUALLY_FRAME" val="{&quot;height&quot;:290.25,&quot;left&quot;:78,&quot;top&quot;:160.5,&quot;width&quot;:794.2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2925</Words>
  <Application>WPS 演示</Application>
  <PresentationFormat>Converted Presentation</PresentationFormat>
  <Paragraphs>384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Noto Sans SC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一</cp:lastModifiedBy>
  <cp:revision>2</cp:revision>
  <dcterms:created xsi:type="dcterms:W3CDTF">2026-09-07T06:22:48Z</dcterms:created>
  <dcterms:modified xsi:type="dcterms:W3CDTF">2026-09-07T06:37:26Z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16A32C3CD8B94A00806473A7C104DB3E_12</vt:lpwstr>
  </property>
</Properties>
</file>