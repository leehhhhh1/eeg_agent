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建议开场：EEGAgent 不是把 LLM 直接接到 EEG 数据，而是用运行时把规划、工具、记忆和知识检索拆成可控模块。</a:t>
            </a:r>
          </a:p>
          <a:p>
            <a:r>
              <a:t>来源：README.md；agent_runtime；RAG；mcp_server。</a:t>
            </a:r>
          </a:p>
          <a:p>
            <a:r>
              <a:t>封面视觉为项目已有生成资源，仅用于技术主题表达。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面试讲法：用分层先建立全局认知。规划、记忆、调用协议、领域能力和知识库各自可替换。</a:t>
            </a:r>
          </a:p>
          <a:p>
            <a:r>
              <a:t>当前桌面端通过 stdio 启动本地 MCP 服务，Agent 通过 OpenAI 兼容接口调用 DeepSeek。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Parent 用于保存章节级上下文和来源元数据，Child 用于精细召回。</a:t>
            </a:r>
          </a:p>
          <a:p>
            <a:r>
              <a:t>表格和列表按行拆分，普通段落按句子边界拆分；稳定 ID 使用 SHA-1 摘要。</a:t>
            </a:r>
          </a:p>
          <a:p>
            <a:r>
              <a:t>FAISS 使用 IndexFlatIP，Sparse 使用 token_id 到文档权重的倒排表。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模糊问题先用 Dense Top-1 做 FAISS probe，默认阈值 0.35。</a:t>
            </a:r>
          </a:p>
          <a:p>
            <a:r>
              <a:t>三路融合使用 rank 而不是直接混合原始分数，降低不同打分尺度造成的偏差。</a:t>
            </a:r>
          </a:p>
          <a:p>
            <a:r>
              <a:t>reranker 输出 sigmoid 相关度，低于 0.5 的候选会被过滤，因此最终可能返回 0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关键词路由适合高精度意图，命中后不再走语义选择。</a:t>
            </a:r>
          </a:p>
          <a:p>
            <a:r>
              <a:t>语义路由使用本地 BGE-M3，默认专用阈值 0.65，候选分差 0.05，general_eeg 下限 0.45。</a:t>
            </a:r>
          </a:p>
          <a:p>
            <a:r>
              <a:t>每个 Skill 的描述与多条 routing_examples 都参与编码，每个 Skill 取最相似两条的均值。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这是一个工程化 ReAct 循环：模型提出 action，MCP 返回 observation，模型继续决策。</a:t>
            </a:r>
          </a:p>
          <a:p>
            <a:r>
              <a:t>运行时收集流式 reasoning_content 和 tool_call 增量，确保 DeepSeek 思考模式在后续工具轮次保持上下文连续。</a:t>
            </a:r>
          </a:p>
          <a:p>
            <a:r>
              <a:t>MAX_TOOL_ROUNDS 为 8。错误会转为模型可见的结构化结果，不直接让整轮崩溃。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会话摘要不是让模型自由总结工具原始输出。代码只抽取白名单字段，避免把大 payload 长期保存。</a:t>
            </a:r>
          </a:p>
          <a:p>
            <a:r>
              <a:t>历史压缩以完整 user turn 为单位，tool_calls 与对应 tool 消息保持原子性。</a:t>
            </a:r>
          </a:p>
          <a:p>
            <a:r>
              <a:t>RAG 文本只临时注入当前 user message，模型返回后会替换回原问题，避免知识片段污染长期记忆。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提示词缓存复用的是输入 token，不复用模型本轮新生成的输出 token。</a:t>
            </a:r>
          </a:p>
          <a:p>
            <a:r>
              <a:t>命中条件是请求开头存在连续且完全一致的 token 前缀，因此 System Prompt、工具 schema、摘要和消息顺序应尽量稳定。</a:t>
            </a:r>
          </a:p>
          <a:p>
            <a:r>
              <a:t>在同一 ReAct 循环中，运行时仅在尾部追加 assistant.tool_calls 与 tool 结果，下一次模型请求可复用上一轮的完整输入前缀。</a:t>
            </a:r>
          </a:p>
          <a:p>
            <a:r>
              <a:t>本轮结束后当前实现会清理临时 RAG；下一轮请求会在旧 user 消息附近发生前缀分叉。摘要压缩、工具 schema 或顺序变化也会造成失效。</a:t>
            </a:r>
          </a:p>
          <a:p>
            <a:r>
              <a:t>运行时记录服务商返回的 prompt_cache_hit_tokens 与 prompt_cache_miss_tokens，并计算 prompt fingerprint 和 common_prefix_tokens 用于诊断。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双重授权包括 schema 暴露和执行前 allowlist 校验。当前实现为了保持提示词前缀稳定，模型在会话内看见固定工具 schema 联集。</a:t>
            </a:r>
          </a:p>
          <a:p>
            <a:r>
              <a:t>真正调用时仍按当前 Skill 检查权限，所以 schema 稳定不会扩大执行能力。</a:t>
            </a:r>
          </a:p>
          <a:p>
            <a:r>
              <a:t>MCPClientBridge 在后台线程维护异步 stdio 会话，对桌面端提供同步 list_tools 与 call_tool。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轨迹事件由 Agent Runtime 发出，通过稳定事件 ID 增量更新状态。</a:t>
            </a:r>
          </a:p>
          <a:p>
            <a:r>
              <a:t>事件类型覆盖 user/message、routing/decision、rag/retrieval、model/request、tool/call 和 turn/end。</a:t>
            </a:r>
          </a:p>
          <a:p>
            <a:r>
              <a:t>桌面端按轮次展示时间轴、可搜索事件表和输入输出详情，并聚合 LLM 耗时、工具耗时、平均 TTFT、生成速度、缓存命中率、token 与上下文占用。</a:t>
            </a:r>
          </a:p>
          <a:p>
            <a:r>
              <a:t>轨迹详情通过 _trace_text 做长度限制，不写入模型消息历史。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这个例子适合面试时按 Trace 顺序讲，能够把规划、RAG 策略、MCP、记忆和安全输出串起来。</a:t>
            </a:r>
          </a:p>
          <a:p>
            <a:r>
              <a:t>detection Skill 规定窗口不超过 600 秒；本例使用 0 至 60 秒。</a:t>
            </a:r>
          </a:p>
          <a:p>
            <a:r>
              <a:t>路由、RAG、模型请求、工具调用和 turn end 都会发出可视化 trace 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最后一页把技术亮点与不足同时讲清楚。右侧均为建议，不代表当前已经实现。</a:t>
            </a:r>
          </a:p>
          <a:p>
            <a:r>
              <a:t>可根据应聘岗位调整重点：Agent 岗强调规划和记忆，平台岗强调 MCP 与可观测性，算法岗强调 RAG 与 EEG 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gradFill>
            <a:gsLst>
              <a:gs pos="0">
                <a:srgbClr val="06111E"/>
              </a:gs>
              <a:gs pos="72000">
                <a:srgbClr val="06111E">
                  <a:alpha val="97000"/>
                </a:srgbClr>
              </a:gs>
              <a:gs pos="100000">
                <a:srgbClr val="06111E">
                  <a:alpha val="2500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914400"/>
            <a:ext cx="2476500" cy="285750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lIns="76200" tIns="19050" rIns="76200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INTERVIEW TECHNICAL DECK</a:t>
            </a:r>
            <a:endParaRPr sz="11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5334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4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EEGAgent</a:t>
            </a:r>
            <a:endParaRPr sz="46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514600"/>
            <a:ext cx="542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智能体技术架构与工程实现</a:t>
            </a:r>
            <a:endParaRPr sz="2325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32766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>
                <a:sym typeface="+mn-ea"/>
              </a:rPr>
              <a:t>RAG 建库与检索</a:t>
            </a:r>
            <a:endParaRPr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>
                <a:sym typeface="+mn-ea"/>
              </a:rPr>
              <a:t>规划机制</a:t>
            </a:r>
            <a:endParaRPr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>
                <a:sym typeface="+mn-ea"/>
              </a:rPr>
              <a:t>记忆模块</a:t>
            </a:r>
            <a:endParaRPr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>
                <a:sym typeface="+mn-ea"/>
              </a:rPr>
              <a:t> 工具调用</a:t>
            </a:r>
            <a:r>
              <a:rPr lang="zh-CN">
                <a:sym typeface="+mn-ea"/>
              </a:rPr>
              <a:t>模块</a:t>
            </a:r>
            <a:endParaRPr sz="15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系统总览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五层技术架构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核心目标是让 LLM 负责决策，让确定性代码负责边界、执行和状态管理。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0955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2193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交互层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266950" y="22193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PySide6 桌面端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657850" y="22193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EDF 选择、对话流、执行轨迹、取消与导出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7700" y="287655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A1C2E"/>
          </a:solidFill>
          <a:ln w="952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00037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运行时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66950" y="30003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Planner + Memory + ReAct Loop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57850" y="300037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 Skill、管理上下文、驱动多轮工具调用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7700" y="36576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7814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协议层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66950" y="37814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over stdio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57850" y="37814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持久连接、工具发现、结构化调用与错误归一化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7700" y="443865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A1C2E"/>
          </a:solidFill>
          <a:ln w="9525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456247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能力层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66950" y="45624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 Tools + Session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57850" y="456247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基础信息、片段探索、事件检测、报告生成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47700" y="52197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67E8F9">
                <a:alpha val="7000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38200" y="53435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知识层</a:t>
            </a:r>
            <a:endParaRPr sz="1425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266950" y="53435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Local RAG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57850" y="53435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Docling 建库、BGE-M3 混合召回、重排与</a:t>
            </a: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</a:t>
            </a: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注入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RAG 建库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结构感知的父子分块与双索引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建库优先保留标题层级、表格和页码，再为召回与上下文扩展分别设计粒度。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知识文件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PDF、DOCX、MD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TXT、HTML、XHTML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4193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6098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Docling 解析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098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OCR、表格结构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标题层级、页码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1910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3815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结构块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815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heading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paragraph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list、table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626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1531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父子分块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531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 保持章节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Child 面向召回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7343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67E8F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248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BGE-M3 编码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248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向量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Sparse token 权重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5059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6964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索引落盘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964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FAISS Dense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Sparse 倒排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 / Child 元数据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14" name="直接箭头连接符 59"/>
          <p:cNvCxnSpPr>
            <a:stCxn id="5" idx="3"/>
            <a:endCxn id="8" idx="1"/>
          </p:cNvCxnSpPr>
          <p:nvPr/>
        </p:nvCxnSpPr>
        <p:spPr>
          <a:xfrm>
            <a:off x="20764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5" name="直接箭头连接符 60"/>
          <p:cNvCxnSpPr>
            <a:stCxn id="8" idx="3"/>
            <a:endCxn id="11" idx="1"/>
          </p:cNvCxnSpPr>
          <p:nvPr/>
        </p:nvCxnSpPr>
        <p:spPr>
          <a:xfrm>
            <a:off x="384810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6" name="直接箭头连接符 61"/>
          <p:cNvCxnSpPr>
            <a:stCxn id="11" idx="3"/>
            <a:endCxn id="14" idx="1"/>
          </p:cNvCxnSpPr>
          <p:nvPr/>
        </p:nvCxnSpPr>
        <p:spPr>
          <a:xfrm>
            <a:off x="56197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7" name="直接箭头连接符 62"/>
          <p:cNvCxnSpPr>
            <a:stCxn id="14" idx="3"/>
            <a:endCxn id="17" idx="1"/>
          </p:cNvCxnSpPr>
          <p:nvPr/>
        </p:nvCxnSpPr>
        <p:spPr>
          <a:xfrm>
            <a:off x="739140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8" name="直接箭头连接符 63"/>
          <p:cNvCxnSpPr>
            <a:stCxn id="17" idx="3"/>
            <a:endCxn id="20" idx="1"/>
          </p:cNvCxnSpPr>
          <p:nvPr/>
        </p:nvCxnSpPr>
        <p:spPr>
          <a:xfrm>
            <a:off x="91630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647700" y="4305300"/>
            <a:ext cx="10896600" cy="1333500"/>
          </a:xfrm>
          <a:prstGeom prst="roundRect">
            <a:avLst>
              <a:gd name="adj" fmla="val 14286"/>
            </a:avLst>
          </a:prstGeom>
          <a:solidFill>
            <a:srgbClr val="0B1E31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45720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分块参数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552700" y="457200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</a:t>
            </a:r>
            <a:endParaRPr sz="13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333750" y="45720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 900，最大 1400 tokens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552700" y="5038725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Child</a:t>
            </a:r>
            <a:endParaRPr sz="13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33750" y="5038725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 280，最大 400，重叠 50 tokens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239000" y="45720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增量重建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39000" y="4914900"/>
            <a:ext cx="366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registry 比较文件 mtime、size、解析与分块配置。版本变化自动全量重建。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 检索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策略路由、三路召回与重排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检索结果最多返回 3 个父块，并在当前用户消息中临时注入。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09625" y="2038350"/>
            <a:ext cx="10572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81075" y="21336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检索策略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476500" y="2133600"/>
            <a:ext cx="8715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知识问题直接检索。记录特异性工具请求跳过。模糊问题先做 FAISS 探测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381125" y="2695575"/>
            <a:ext cx="9429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552575" y="27908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双路召回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2790825"/>
            <a:ext cx="757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Top 20 + Sparse Top 20，RRF 权重 0.6 / 0.4，合并 Top 40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952625" y="3352800"/>
            <a:ext cx="8286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124075" y="34480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三路融合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19500" y="3448050"/>
            <a:ext cx="6429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0.</a:t>
            </a: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+ Sparse 0.2 + ColBERT 0.4，保留 Top 15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524125" y="4010025"/>
            <a:ext cx="7143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695575" y="41052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Cross Encoder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91000" y="41052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bge-reranker-v2-m3 计算 query-passage 相关度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095625" y="4667250"/>
            <a:ext cx="6000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267075" y="47625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最终评分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62500" y="4762500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0.2 × coarse_normalized + 0.8 × rerank_score，默认阈值 0.5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667125" y="5324475"/>
            <a:ext cx="4857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838575" y="54197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上下文扩展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34000" y="5419725"/>
            <a:ext cx="3000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parent 去重，补充命中 child 的前后相邻块，最终 Top 0 至 3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规划机制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两级 Skill 路由与安全降级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规划首先确定本轮任务边界，再决定是否生成工具调用。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05050"/>
            <a:ext cx="2381250" cy="1066800"/>
          </a:xfrm>
          <a:prstGeom prst="roundRect">
            <a:avLst>
              <a:gd name="adj" fmla="val 16071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466975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用户问题</a:t>
            </a:r>
            <a:endParaRPr sz="16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876550"/>
            <a:ext cx="2000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例如：检查前十分钟有没有癫痫样放电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619500" y="2076450"/>
            <a:ext cx="2438400" cy="1123950"/>
          </a:xfrm>
          <a:prstGeom prst="roundRect">
            <a:avLst>
              <a:gd name="adj" fmla="val 15254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810000" y="223837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关键词路由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0" y="2647950"/>
            <a:ext cx="2057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统计命中数，再按 priority 与名称排序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19500" y="3581400"/>
            <a:ext cx="2438400" cy="1123950"/>
          </a:xfrm>
          <a:prstGeom prst="roundRect">
            <a:avLst>
              <a:gd name="adj" fmla="val 15254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10000" y="374332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语义路由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10000" y="4152900"/>
            <a:ext cx="2057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BGE-M3 对描述和 routing_examples 编码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705600" y="1952625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2114550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专用 Skill</a:t>
            </a:r>
            <a:endParaRPr sz="16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96100" y="2524125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top ≥ 0.65 且 margin ≥ 0.05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705600" y="3257550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96100" y="3419475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general_eeg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3829050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专用未通过，但 top ≥ 0.45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705600" y="4562475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96100" y="4724400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no_skill</a:t>
            </a:r>
            <a:endParaRPr sz="16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96100" y="5133975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低置信度时禁用 EEG 工具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01200" y="3000375"/>
            <a:ext cx="1943100" cy="1333500"/>
          </a:xfrm>
          <a:prstGeom prst="roundRect">
            <a:avLst>
              <a:gd name="adj" fmla="val 12857"/>
            </a:avLst>
          </a:prstGeom>
          <a:solidFill>
            <a:srgbClr val="10263B"/>
          </a:solidFill>
          <a:ln w="14288">
            <a:solidFill>
              <a:srgbClr val="67E8F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91700" y="3162300"/>
            <a:ext cx="1562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本轮计划</a:t>
            </a:r>
            <a:endParaRPr sz="16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91700" y="3571875"/>
            <a:ext cx="1562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 指令 + allowed_tools + 输出规则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34" name="直接箭头连接符 63"/>
          <p:cNvCxnSpPr>
            <a:stCxn id="5" idx="3"/>
            <a:endCxn id="8" idx="1"/>
          </p:cNvCxnSpPr>
          <p:nvPr/>
        </p:nvCxnSpPr>
        <p:spPr>
          <a:xfrm flipV="1">
            <a:off x="3028950" y="2638425"/>
            <a:ext cx="590550" cy="200025"/>
          </a:xfrm>
          <a:prstGeom prst="straightConnector1">
            <a:avLst/>
          </a:prstGeom>
          <a:ln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135" name="直接箭头连接符 64"/>
          <p:cNvCxnSpPr>
            <a:stCxn id="8" idx="3"/>
            <a:endCxn id="14" idx="1"/>
          </p:cNvCxnSpPr>
          <p:nvPr/>
        </p:nvCxnSpPr>
        <p:spPr>
          <a:xfrm flipV="1">
            <a:off x="6057900" y="2466975"/>
            <a:ext cx="647700" cy="171450"/>
          </a:xfrm>
          <a:prstGeom prst="straightConnector1">
            <a:avLst/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36" name="直接箭头连接符 65"/>
          <p:cNvCxnSpPr>
            <a:stCxn id="8" idx="2"/>
            <a:endCxn id="11" idx="0"/>
          </p:cNvCxnSpPr>
          <p:nvPr/>
        </p:nvCxnSpPr>
        <p:spPr>
          <a:xfrm>
            <a:off x="4838700" y="3200400"/>
            <a:ext cx="0" cy="381000"/>
          </a:xfrm>
          <a:prstGeom prst="straightConnector1">
            <a:avLst/>
          </a:prstGeom>
          <a:ln w="19050">
            <a:solidFill>
              <a:srgbClr val="70849A"/>
            </a:solidFill>
            <a:prstDash val="solid"/>
            <a:tailEnd type="triangle" w="sm" len="sm"/>
          </a:ln>
        </p:spPr>
      </p:cxnSp>
      <p:sp>
        <p:nvSpPr>
          <p:cNvPr id="29" name="矩形 28"/>
          <p:cNvSpPr>
            <a:spLocks noGrp="1"/>
          </p:cNvSpPr>
          <p:nvPr/>
        </p:nvSpPr>
        <p:spPr>
          <a:xfrm>
            <a:off x="5286375" y="3276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708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708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无命中</a:t>
            </a:r>
            <a:endParaRPr sz="975" b="1">
              <a:solidFill>
                <a:srgbClr val="70849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38" name="肘形连接符 67"/>
          <p:cNvCxnSpPr>
            <a:stCxn id="11" idx="3"/>
            <a:endCxn id="14" idx="1"/>
          </p:cNvCxnSpPr>
          <p:nvPr/>
        </p:nvCxnSpPr>
        <p:spPr>
          <a:xfrm flipV="1">
            <a:off x="6057900" y="2466975"/>
            <a:ext cx="647700" cy="1676400"/>
          </a:xfrm>
          <a:prstGeom prst="bentConnector3">
            <a:avLst>
              <a:gd name="adj1" fmla="val 50000"/>
            </a:avLst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39" name="肘形连接符 68"/>
          <p:cNvCxnSpPr>
            <a:stCxn id="11" idx="3"/>
            <a:endCxn id="17" idx="1"/>
          </p:cNvCxnSpPr>
          <p:nvPr/>
        </p:nvCxnSpPr>
        <p:spPr>
          <a:xfrm flipV="1">
            <a:off x="6057900" y="3771900"/>
            <a:ext cx="647700" cy="371475"/>
          </a:xfrm>
          <a:prstGeom prst="bentConnector3">
            <a:avLst>
              <a:gd name="adj1" fmla="val 50000"/>
            </a:avLst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40" name="肘形连接符 69"/>
          <p:cNvCxnSpPr>
            <a:stCxn id="11" idx="3"/>
            <a:endCxn id="20" idx="1"/>
          </p:cNvCxnSpPr>
          <p:nvPr/>
        </p:nvCxnSpPr>
        <p:spPr>
          <a:xfrm>
            <a:off x="6057900" y="4143375"/>
            <a:ext cx="647700" cy="933450"/>
          </a:xfrm>
          <a:prstGeom prst="bentConnector3">
            <a:avLst>
              <a:gd name="adj1" fmla="val 50000"/>
            </a:avLst>
          </a:prstGeom>
          <a:ln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141" name="肘形连接符 70"/>
          <p:cNvCxnSpPr>
            <a:stCxn id="14" idx="3"/>
            <a:endCxn id="23" idx="1"/>
          </p:cNvCxnSpPr>
          <p:nvPr/>
        </p:nvCxnSpPr>
        <p:spPr>
          <a:xfrm>
            <a:off x="9010650" y="2466975"/>
            <a:ext cx="590550" cy="1200150"/>
          </a:xfrm>
          <a:prstGeom prst="bentConnector3">
            <a:avLst>
              <a:gd name="adj1" fmla="val 50000"/>
            </a:avLst>
          </a:prstGeom>
          <a:ln w="19050">
            <a:solidFill>
              <a:srgbClr val="34D399"/>
            </a:solidFill>
            <a:prstDash val="solid"/>
            <a:tailEnd type="triangle" w="sm" len="sm"/>
          </a:ln>
        </p:spPr>
      </p:cxnSp>
      <p:cxnSp>
        <p:nvCxnSpPr>
          <p:cNvPr id="142" name="直接箭头连接符 71"/>
          <p:cNvCxnSpPr>
            <a:stCxn id="17" idx="3"/>
            <a:endCxn id="23" idx="1"/>
          </p:cNvCxnSpPr>
          <p:nvPr/>
        </p:nvCxnSpPr>
        <p:spPr>
          <a:xfrm flipV="1">
            <a:off x="9010650" y="3667125"/>
            <a:ext cx="590550" cy="104775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43" name="肘形连接符 72"/>
          <p:cNvCxnSpPr>
            <a:stCxn id="20" idx="3"/>
            <a:endCxn id="23" idx="1"/>
          </p:cNvCxnSpPr>
          <p:nvPr/>
        </p:nvCxnSpPr>
        <p:spPr>
          <a:xfrm flipV="1">
            <a:off x="9010650" y="3667125"/>
            <a:ext cx="590550" cy="1409700"/>
          </a:xfrm>
          <a:prstGeom prst="bentConnector3">
            <a:avLst>
              <a:gd name="adj1" fmla="val 50000"/>
            </a:avLst>
          </a:prstGeom>
          <a:ln w="19050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8" name="矩形 37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规划执行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受约束的流式 ReAct 循环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模型可以连续调用工具，但运行时掌握会话、授权、终止条件和错误处理。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组织上下文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系统指令、会话摘要、本轮 Skill、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提问、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5146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7051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模型决策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051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流式输出文本、推理内容与函数参数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815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解析 tool_calls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index 拼接增量参数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484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运行时校验</a:t>
            </a:r>
            <a:endParaRPr sz="1425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检查 session 与 allowed_tools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153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执行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自动注入 session_id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9822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1727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写回结果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1727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 消息进入下一轮模型请求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10" name="直接箭头连接符 55"/>
          <p:cNvCxnSpPr>
            <a:stCxn id="5" idx="3"/>
            <a:endCxn id="8" idx="1"/>
          </p:cNvCxnSpPr>
          <p:nvPr/>
        </p:nvCxnSpPr>
        <p:spPr>
          <a:xfrm>
            <a:off x="21336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1" name="直接箭头连接符 56"/>
          <p:cNvCxnSpPr>
            <a:stCxn id="8" idx="3"/>
            <a:endCxn id="11" idx="1"/>
          </p:cNvCxnSpPr>
          <p:nvPr/>
        </p:nvCxnSpPr>
        <p:spPr>
          <a:xfrm>
            <a:off x="40005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2" name="直接箭头连接符 57"/>
          <p:cNvCxnSpPr>
            <a:stCxn id="11" idx="3"/>
            <a:endCxn id="14" idx="1"/>
          </p:cNvCxnSpPr>
          <p:nvPr/>
        </p:nvCxnSpPr>
        <p:spPr>
          <a:xfrm>
            <a:off x="58674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3" name="直接箭头连接符 58"/>
          <p:cNvCxnSpPr>
            <a:stCxn id="14" idx="3"/>
            <a:endCxn id="17" idx="1"/>
          </p:cNvCxnSpPr>
          <p:nvPr/>
        </p:nvCxnSpPr>
        <p:spPr>
          <a:xfrm>
            <a:off x="77343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4" name="直接箭头连接符 59"/>
          <p:cNvCxnSpPr>
            <a:stCxn id="17" idx="3"/>
            <a:endCxn id="20" idx="1"/>
          </p:cNvCxnSpPr>
          <p:nvPr/>
        </p:nvCxnSpPr>
        <p:spPr>
          <a:xfrm>
            <a:off x="96012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1600200" y="4552950"/>
            <a:ext cx="8991600" cy="1085850"/>
          </a:xfrm>
          <a:prstGeom prst="roundRect">
            <a:avLst>
              <a:gd name="adj" fmla="val 17544"/>
            </a:avLst>
          </a:prstGeom>
          <a:solidFill>
            <a:srgbClr val="0A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943100" y="481965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继续循环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333750" y="4762500"/>
            <a:ext cx="6715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存在 tool_calls 时追加 assistant 与 tool 消息，再请求模型。没有工具调用时输出最终答案。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943100" y="531495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硬上限：8 轮工具调用。达到上限后移除工具 schema，要求模型基于已有证据</a:t>
            </a: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输出回答</a:t>
            </a: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sz="127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记忆模块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上下文与模块</a:t>
            </a: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压缩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70" y="1844675"/>
            <a:ext cx="8366760" cy="4706620"/>
          </a:xfrm>
          <a:prstGeom prst="rect">
            <a:avLst/>
          </a:prstGeom>
        </p:spPr>
      </p:pic>
      <p:sp>
        <p:nvSpPr>
          <p:cNvPr id="25" name="文本框 24"/>
          <p:cNvSpPr>
            <a:spLocks noGrp="1"/>
          </p:cNvSpPr>
          <p:nvPr/>
        </p:nvSpPr>
        <p:spPr>
          <a:xfrm>
            <a:off x="1487170" y="1341120"/>
            <a:ext cx="4152900" cy="448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>
                <a:solidFill>
                  <a:schemeClr val="bg1"/>
                </a:solidFill>
              </a:rPr>
              <a:t>主体结构：滑动窗口</a:t>
            </a:r>
            <a:r>
              <a:rPr>
                <a:solidFill>
                  <a:schemeClr val="bg1"/>
                </a:solidFill>
              </a:rPr>
              <a:t>+</a:t>
            </a:r>
            <a:r>
              <a:rPr>
                <a:solidFill>
                  <a:schemeClr val="bg1"/>
                </a:solidFill>
              </a:rPr>
              <a:t>摘要</a:t>
            </a:r>
            <a:r>
              <a:rPr>
                <a:solidFill>
                  <a:schemeClr val="bg1"/>
                </a:solidFill>
              </a:rPr>
              <a:t>压缩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缓存复用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前缀缓存复用与失效边界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缓存复用的是连续相同的输入 token 前缀，模型新生成的输出 token 不参与复用。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系统前缀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身份指令
固定工具 schema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5146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7051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会话摘要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051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保持稳定
压缩时更新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815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历史消息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user、assistant
与 tool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484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 user</a:t>
            </a:r>
            <a:endParaRPr sz="1425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Skill、问题
临时 RAG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153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assistant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tool_calls
或最终回答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9822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1727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 结果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1727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追加结果
再次请求模型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10" name="直接箭头连接符 55"/>
          <p:cNvCxnSpPr>
            <a:stCxn id="5" idx="3"/>
            <a:endCxn id="8" idx="1"/>
          </p:cNvCxnSpPr>
          <p:nvPr/>
        </p:nvCxnSpPr>
        <p:spPr>
          <a:xfrm>
            <a:off x="21336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1" name="直接箭头连接符 56"/>
          <p:cNvCxnSpPr>
            <a:stCxn id="8" idx="3"/>
            <a:endCxn id="11" idx="1"/>
          </p:cNvCxnSpPr>
          <p:nvPr/>
        </p:nvCxnSpPr>
        <p:spPr>
          <a:xfrm>
            <a:off x="40005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2" name="直接箭头连接符 57"/>
          <p:cNvCxnSpPr>
            <a:stCxn id="11" idx="3"/>
            <a:endCxn id="14" idx="1"/>
          </p:cNvCxnSpPr>
          <p:nvPr/>
        </p:nvCxnSpPr>
        <p:spPr>
          <a:xfrm>
            <a:off x="58674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3" name="直接箭头连接符 58"/>
          <p:cNvCxnSpPr>
            <a:stCxn id="14" idx="3"/>
            <a:endCxn id="17" idx="1"/>
          </p:cNvCxnSpPr>
          <p:nvPr/>
        </p:nvCxnSpPr>
        <p:spPr>
          <a:xfrm>
            <a:off x="77343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4" name="直接箭头连接符 59"/>
          <p:cNvCxnSpPr>
            <a:stCxn id="17" idx="3"/>
            <a:endCxn id="20" idx="1"/>
          </p:cNvCxnSpPr>
          <p:nvPr/>
        </p:nvCxnSpPr>
        <p:spPr>
          <a:xfrm>
            <a:off x="96012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1600200" y="4457700"/>
            <a:ext cx="8991600" cy="1390650"/>
          </a:xfrm>
          <a:prstGeom prst="roundRect">
            <a:avLst>
              <a:gd name="adj" fmla="val 17544"/>
            </a:avLst>
          </a:prstGeom>
          <a:solidFill>
            <a:srgbClr val="0A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866900" y="4648200"/>
            <a:ext cx="95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轮内复用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952750" y="4591050"/>
            <a:ext cx="7334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 ReAct 循环只在尾部追加 assistant 与 tool，上一轮输入可成为下一次请求的完整缓存前缀。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工具调用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工具链与双重授权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模型看见稳定 schema，运行时仍会在真正执行前做二次检查。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286000"/>
            <a:ext cx="23336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44792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LLM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857500"/>
            <a:ext cx="1952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固定展示所有运行时 Skill 所引用工具的 schema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752850" y="2095500"/>
            <a:ext cx="2762250" cy="1695450"/>
          </a:xfrm>
          <a:prstGeom prst="roundRect">
            <a:avLst>
              <a:gd name="adj" fmla="val 10112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943350" y="22574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Runtime</a:t>
            </a:r>
            <a:endParaRPr sz="16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43350" y="2667000"/>
            <a:ext cx="23812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解析 JSON 参数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校验 Skill allowlist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注入 session_id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96150" y="2286000"/>
            <a:ext cx="23336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244792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Client Bridge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857500"/>
            <a:ext cx="1952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持久 stdio 连接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163175" y="2286000"/>
            <a:ext cx="13811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353675" y="2447925"/>
            <a:ext cx="1000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FastMCP Server</a:t>
            </a:r>
            <a:endParaRPr sz="16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353675" y="2857500"/>
            <a:ext cx="10001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会话查找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领域函数执行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结构化结果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79" name="直接箭头连接符 40"/>
          <p:cNvCxnSpPr>
            <a:stCxn id="5" idx="3"/>
            <a:endCxn id="8" idx="1"/>
          </p:cNvCxnSpPr>
          <p:nvPr/>
        </p:nvCxnSpPr>
        <p:spPr>
          <a:xfrm>
            <a:off x="2981325" y="2943225"/>
            <a:ext cx="771525" cy="0"/>
          </a:xfrm>
          <a:prstGeom prst="straightConnector1">
            <a:avLst/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80" name="直接箭头连接符 41"/>
          <p:cNvCxnSpPr>
            <a:stCxn id="8" idx="3"/>
            <a:endCxn id="11" idx="1"/>
          </p:cNvCxnSpPr>
          <p:nvPr/>
        </p:nvCxnSpPr>
        <p:spPr>
          <a:xfrm>
            <a:off x="6515100" y="2943225"/>
            <a:ext cx="781050" cy="0"/>
          </a:xfrm>
          <a:prstGeom prst="straightConnector1">
            <a:avLst/>
          </a:prstGeom>
          <a:ln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81" name="直接箭头连接符 42"/>
          <p:cNvCxnSpPr>
            <a:stCxn id="11" idx="3"/>
            <a:endCxn id="14" idx="1"/>
          </p:cNvCxnSpPr>
          <p:nvPr/>
        </p:nvCxnSpPr>
        <p:spPr>
          <a:xfrm>
            <a:off x="9629775" y="2943225"/>
            <a:ext cx="533400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20" name="圆角矩形 19"/>
          <p:cNvSpPr>
            <a:spLocks noGrp="1"/>
          </p:cNvSpPr>
          <p:nvPr/>
        </p:nvSpPr>
        <p:spPr>
          <a:xfrm>
            <a:off x="647700" y="4419600"/>
            <a:ext cx="10896600" cy="1428750"/>
          </a:xfrm>
          <a:prstGeom prst="roundRect">
            <a:avLst>
              <a:gd name="adj" fmla="val 13333"/>
            </a:avLst>
          </a:prstGeom>
          <a:solidFill>
            <a:srgbClr val="0B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6672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关键工程处理</a:t>
            </a:r>
            <a:endParaRPr sz="16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4610100"/>
            <a:ext cx="79057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 schema 中删除 session_id，运行时绑定当前会话后自动注入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事件检测结果先做代表性压缩，降低大规模事件列表对上下文的占用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执行轨迹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事件模型、实时更新与指标聚合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每个阶段发出带稳定 ID 的事件，桌面端实时更新状态并聚合性能指标。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114550"/>
            <a:ext cx="28575" cy="342900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" y="21240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38275" y="20383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76450" y="20383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输入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0383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user/message：记录原始问题、turn 与起止时间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90600" y="2676525"/>
            <a:ext cx="285750" cy="28575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38275" y="25908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76450" y="25908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14700" y="25908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routing/decision：Skill、路由来源、关键词命中与置信度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90600" y="3228975"/>
            <a:ext cx="285750" cy="285750"/>
          </a:xfrm>
          <a:prstGeom prst="ellipse">
            <a:avLst/>
          </a:prstGeom>
          <a:solidFill>
            <a:srgbClr val="67E8F9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438275" y="31432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76450" y="31432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14700" y="31432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rag/retrieval：检索策略、参考片段、来源与耗时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990600" y="3781425"/>
            <a:ext cx="285750" cy="2857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438275" y="36957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76450" y="36957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36957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model/request：状态、TTFT、token 与缓存统计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990600" y="43338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438275" y="42481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76450" y="42481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314700" y="42481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tool/call：工具名、参数、执行状态、输入输出与耗时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990600" y="4886325"/>
            <a:ext cx="285750" cy="28575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438275" y="4800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076450" y="48006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更新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14700" y="48006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同一事件 ID 从 running 更新为 complete、error 或 cancelled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90600" y="5438775"/>
            <a:ext cx="285750" cy="285750"/>
          </a:xfrm>
          <a:prstGeom prst="ellipse">
            <a:avLst/>
          </a:prstGeom>
          <a:solidFill>
            <a:srgbClr val="FB7185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38275" y="53530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13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076450" y="53530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收束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14700" y="53530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turn/end：模型轮数、工具轮数、上下文占用与总耗时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5143500" y="5753100"/>
            <a:ext cx="6400800" cy="533400"/>
          </a:xfrm>
          <a:prstGeom prst="roundRect">
            <a:avLst>
              <a:gd name="adj" fmla="val 25000"/>
            </a:avLst>
          </a:prstGeom>
          <a:solidFill>
            <a:srgbClr val="14263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334000" y="58102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UI：时间轴、事件表、输入输出详情；摘要栏聚合耗时、TTFT、tokens 与缓存</a:t>
            </a:r>
            <a:endParaRPr sz="120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端到端示例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一次事件筛查请求的执行轨迹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示例问题：前一分钟是否存在癫痫样放电？如果有，出现在哪些导联？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114550"/>
            <a:ext cx="28575" cy="342900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" y="21240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38275" y="20383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76450" y="20383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0383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关键词命中 detection，加载 allowed_tools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90600" y="2676525"/>
            <a:ext cx="285750" cy="28575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38275" y="25908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76450" y="25908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14700" y="25908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识别为记录特异性请求，本轮跳过 RAG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90600" y="3228975"/>
            <a:ext cx="285750" cy="285750"/>
          </a:xfrm>
          <a:prstGeom prst="ellipse">
            <a:avLst/>
          </a:prstGeom>
          <a:solidFill>
            <a:srgbClr val="67E8F9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438275" y="31432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76450" y="31432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14700" y="31432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记录时长未知时，先请求 get_eeg_basic_information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990600" y="3781425"/>
            <a:ext cx="285750" cy="2857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438275" y="36957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76450" y="36957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36957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运行时注入 session_id，经 MCP 获取记录范围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990600" y="43338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438275" y="42481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76450" y="42481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314700" y="42481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构造 detect_eeg_events，窗口 0 至 60 秒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990600" y="4886325"/>
            <a:ext cx="285750" cy="28575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438275" y="4800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076450" y="48006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14700" y="48006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把事件数量、时间、导联、脑区和置信度写入摘要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90600" y="5438775"/>
            <a:ext cx="285750" cy="285750"/>
          </a:xfrm>
          <a:prstGeom prst="ellipse">
            <a:avLst/>
          </a:prstGeom>
          <a:solidFill>
            <a:srgbClr val="FB7185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38275" y="53530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13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076450" y="53530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回答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14700" y="53530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只引用工具证据，并说明需要专业人员复核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143750" y="5791200"/>
            <a:ext cx="4400550" cy="457200"/>
          </a:xfrm>
          <a:prstGeom prst="roundRect">
            <a:avLst>
              <a:gd name="adj" fmla="val 25000"/>
            </a:avLst>
          </a:prstGeom>
          <a:solidFill>
            <a:srgbClr val="14263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353300" y="5886450"/>
            <a:ext cx="398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可观测性：路由分数、工具耗时、上下文占用、缓存命中率</a:t>
            </a:r>
            <a:endParaRPr sz="120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工程总结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当前实现与演进方向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面试中需要同时说明已经落地的能力，以及下一阶段可以怎样扩展。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20383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当前实现</a:t>
            </a:r>
            <a:endParaRPr sz="19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2609850"/>
            <a:ext cx="485775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确定性关键词与本地语义路由结合，低置信度安全降级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 指令按轮次隔离，执行前强制校验工具权限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三层记忆配合 token 预算，RAG 只在当前轮临时注入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解耦 Agent 与 EEG 算法，并提供完整执行轨迹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305550" y="20383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演进方向</a:t>
            </a:r>
            <a:endParaRPr sz="19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05550" y="2609850"/>
            <a:ext cx="49530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增加显式任务图，让复杂问题拆成可检查的多 Skill 子计划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把关键事件与报告写入可持久化记忆，并设计版本与权限策略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建立路由准确率、工具成功率、引用正确性与临床复核指标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对独立工具调用引入并行执行，同时保持会话状态一致性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7700" y="5429250"/>
            <a:ext cx="10610850" cy="6858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E2A42"/>
              </a:gs>
              <a:gs pos="100000">
                <a:srgbClr val="14274A"/>
              </a:gs>
            </a:gsLst>
            <a:lin ang="5400000"/>
          </a:gradFill>
          <a:ln w="14288">
            <a:solidFill>
              <a:srgbClr val="22D3E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56197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面试总结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43150" y="5581650"/>
            <a:ext cx="857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EEGAgent 的技术重点是把 LLM 的灵活决策放进一个可控、可追踪、可扩展的领域运行时。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11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3113</Words>
  <Application>WPS 演示</Application>
  <PresentationFormat>Converted Presentation</PresentationFormat>
  <Paragraphs>419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Noto Sans SC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</cp:lastModifiedBy>
  <cp:revision>3</cp:revision>
  <dcterms:created xsi:type="dcterms:W3CDTF">2026-09-07T06:37:09Z</dcterms:created>
  <dcterms:modified xsi:type="dcterms:W3CDTF">2026-09-07T06:38:34Z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8EC7FFB332764C7A87793F2D0DE61FF7_12</vt:lpwstr>
  </property>
  <property fmtid="{D5CDD505-2E9C-101B-9397-08002B2CF9AE}" pid="3" name="KSOProductBuildVer">
    <vt:lpwstr>2052-12.1.0.28505</vt:lpwstr>
  </property>
</Properties>
</file>